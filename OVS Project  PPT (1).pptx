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iPTGo1B6f1NrbZDYuG/58X1GT6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5183188" y="987425"/>
            <a:ext cx="6172200" cy="4873625"/>
          </a:xfrm>
          <a:prstGeom prst="rect">
            <a:avLst/>
          </a:prstGeom>
          <a:noFill/>
          <a:ln>
            <a:noFill/>
          </a:ln>
        </p:spPr>
      </p:sp>
      <p:sp>
        <p:nvSpPr>
          <p:cNvPr id="64" name="Google Shape;6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6.png"/><Relationship Id="rId6"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 y="-53980"/>
            <a:ext cx="12192000" cy="837398"/>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IN" sz="1800" u="none" cap="none" strike="noStrike">
                <a:solidFill>
                  <a:srgbClr val="FFFF00"/>
                </a:solidFill>
                <a:latin typeface="Times New Roman"/>
                <a:ea typeface="Times New Roman"/>
                <a:cs typeface="Times New Roman"/>
                <a:sym typeface="Times New Roman"/>
              </a:rPr>
              <a:t>                           Department of CSE-AI &amp; ML (CSM)</a:t>
            </a:r>
            <a:endParaRPr/>
          </a:p>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5" name="Google Shape;85;p1"/>
          <p:cNvSpPr/>
          <p:nvPr/>
        </p:nvSpPr>
        <p:spPr>
          <a:xfrm>
            <a:off x="0" y="6464710"/>
            <a:ext cx="12192000" cy="393289"/>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86" name="Google Shape;86;p1"/>
          <p:cNvPicPr preferRelativeResize="0"/>
          <p:nvPr/>
        </p:nvPicPr>
        <p:blipFill rotWithShape="1">
          <a:blip r:embed="rId3">
            <a:alphaModFix/>
          </a:blip>
          <a:srcRect b="0" l="0" r="0" t="0"/>
          <a:stretch/>
        </p:blipFill>
        <p:spPr>
          <a:xfrm>
            <a:off x="63911" y="-10418"/>
            <a:ext cx="3229896" cy="750273"/>
          </a:xfrm>
          <a:prstGeom prst="rect">
            <a:avLst/>
          </a:prstGeom>
          <a:noFill/>
          <a:ln>
            <a:noFill/>
          </a:ln>
        </p:spPr>
      </p:pic>
      <p:sp>
        <p:nvSpPr>
          <p:cNvPr id="87" name="Google Shape;87;p1"/>
          <p:cNvSpPr txBox="1"/>
          <p:nvPr>
            <p:ph idx="10" type="dt"/>
          </p:nvPr>
        </p:nvSpPr>
        <p:spPr>
          <a:xfrm>
            <a:off x="0" y="6460922"/>
            <a:ext cx="99797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rgbClr val="FF33CC"/>
                </a:solidFill>
              </a:rPr>
              <a:t>14-04-2025</a:t>
            </a:r>
            <a:endParaRPr>
              <a:solidFill>
                <a:srgbClr val="FF33CC"/>
              </a:solidFill>
            </a:endParaRPr>
          </a:p>
        </p:txBody>
      </p:sp>
      <p:sp>
        <p:nvSpPr>
          <p:cNvPr id="88" name="Google Shape;88;p1"/>
          <p:cNvSpPr txBox="1"/>
          <p:nvPr>
            <p:ph idx="11" type="ftr"/>
          </p:nvPr>
        </p:nvSpPr>
        <p:spPr>
          <a:xfrm>
            <a:off x="3999271" y="6460922"/>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rgbClr val="FF33CC"/>
                </a:solidFill>
              </a:rPr>
              <a:t>VVIT @ Dept. CSM</a:t>
            </a:r>
            <a:endParaRPr/>
          </a:p>
        </p:txBody>
      </p:sp>
      <p:sp>
        <p:nvSpPr>
          <p:cNvPr id="89" name="Google Shape;89;p1"/>
          <p:cNvSpPr txBox="1"/>
          <p:nvPr>
            <p:ph idx="12" type="sldNum"/>
          </p:nvPr>
        </p:nvSpPr>
        <p:spPr>
          <a:xfrm>
            <a:off x="11488994" y="6478792"/>
            <a:ext cx="614516" cy="34725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rgbClr val="FF33CC"/>
                </a:solidFill>
              </a:rPr>
              <a:t>‹#›</a:t>
            </a:fld>
            <a:endParaRPr>
              <a:solidFill>
                <a:srgbClr val="FF33CC"/>
              </a:solidFill>
            </a:endParaRPr>
          </a:p>
        </p:txBody>
      </p:sp>
      <p:sp>
        <p:nvSpPr>
          <p:cNvPr id="90" name="Google Shape;90;p1"/>
          <p:cNvSpPr txBox="1"/>
          <p:nvPr/>
        </p:nvSpPr>
        <p:spPr>
          <a:xfrm flipH="1">
            <a:off x="348110" y="889693"/>
            <a:ext cx="11418066" cy="66479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111111"/>
              </a:solidFill>
              <a:latin typeface="Arial"/>
              <a:ea typeface="Arial"/>
              <a:cs typeface="Arial"/>
              <a:sym typeface="Arial"/>
            </a:endParaRPr>
          </a:p>
          <a:p>
            <a:pPr indent="0" lvl="0" marL="0" marR="0" rtl="0" algn="l">
              <a:spcBef>
                <a:spcPts val="0"/>
              </a:spcBef>
              <a:spcAft>
                <a:spcPts val="0"/>
              </a:spcAft>
              <a:buNone/>
            </a:pPr>
            <a:r>
              <a:rPr b="1" lang="en-IN" sz="4000">
                <a:solidFill>
                  <a:srgbClr val="111111"/>
                </a:solidFill>
                <a:latin typeface="Arial"/>
                <a:ea typeface="Arial"/>
                <a:cs typeface="Arial"/>
                <a:sym typeface="Arial"/>
              </a:rPr>
              <a:t>Project Title:</a:t>
            </a:r>
            <a:endParaRPr/>
          </a:p>
          <a:p>
            <a:pPr indent="0" lvl="0" marL="0" marR="0" rtl="0" algn="l">
              <a:spcBef>
                <a:spcPts val="0"/>
              </a:spcBef>
              <a:spcAft>
                <a:spcPts val="0"/>
              </a:spcAft>
              <a:buNone/>
            </a:pPr>
            <a:r>
              <a:rPr b="1" lang="en-IN" sz="4000">
                <a:solidFill>
                  <a:schemeClr val="dk1"/>
                </a:solidFill>
                <a:latin typeface="Calibri"/>
                <a:ea typeface="Calibri"/>
                <a:cs typeface="Calibri"/>
                <a:sym typeface="Calibri"/>
              </a:rPr>
              <a:t>Online Voting System Using Machine Learning  and Blockchain</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rgbClr val="111111"/>
              </a:solidFill>
              <a:latin typeface="Arial"/>
              <a:ea typeface="Arial"/>
              <a:cs typeface="Arial"/>
              <a:sym typeface="Arial"/>
            </a:endParaRPr>
          </a:p>
          <a:p>
            <a:pPr indent="0" lvl="0" marL="0" marR="0" rtl="0" algn="l">
              <a:spcBef>
                <a:spcPts val="0"/>
              </a:spcBef>
              <a:spcAft>
                <a:spcPts val="0"/>
              </a:spcAft>
              <a:buNone/>
            </a:pPr>
            <a:r>
              <a:t/>
            </a:r>
            <a:endParaRPr sz="1800">
              <a:solidFill>
                <a:srgbClr val="111111"/>
              </a:solidFill>
              <a:latin typeface="Arial"/>
              <a:ea typeface="Arial"/>
              <a:cs typeface="Arial"/>
              <a:sym typeface="Arial"/>
            </a:endParaRPr>
          </a:p>
          <a:p>
            <a:pPr indent="0" lvl="0" marL="0" marR="0" rtl="0" algn="l">
              <a:spcBef>
                <a:spcPts val="0"/>
              </a:spcBef>
              <a:spcAft>
                <a:spcPts val="0"/>
              </a:spcAft>
              <a:buNone/>
            </a:pPr>
            <a:r>
              <a:rPr b="1" lang="en-IN" sz="1800">
                <a:solidFill>
                  <a:srgbClr val="111111"/>
                </a:solidFill>
                <a:latin typeface="Arial"/>
                <a:ea typeface="Arial"/>
                <a:cs typeface="Arial"/>
                <a:sym typeface="Arial"/>
              </a:rPr>
              <a:t>TEAM MEMBERS:</a:t>
            </a:r>
            <a:endParaRPr/>
          </a:p>
          <a:p>
            <a:pPr indent="-285750" lvl="0" marL="285750" marR="0" rtl="0" algn="l">
              <a:spcBef>
                <a:spcPts val="0"/>
              </a:spcBef>
              <a:spcAft>
                <a:spcPts val="0"/>
              </a:spcAft>
              <a:buClr>
                <a:schemeClr val="dk1"/>
              </a:buClr>
              <a:buSzPts val="1800"/>
              <a:buFont typeface="Noto Sans Symbols"/>
              <a:buChar char="❖"/>
            </a:pPr>
            <a:r>
              <a:rPr lang="en-IN" sz="1800">
                <a:solidFill>
                  <a:schemeClr val="dk1"/>
                </a:solidFill>
                <a:latin typeface="Calibri"/>
                <a:ea typeface="Calibri"/>
                <a:cs typeface="Calibri"/>
                <a:sym typeface="Calibri"/>
              </a:rPr>
              <a:t> 21BQ1A42I1    Vuha Chandrika Ippala</a:t>
            </a:r>
            <a:endParaRPr/>
          </a:p>
          <a:p>
            <a:pPr indent="-285750" lvl="0" marL="285750" marR="0" rtl="0" algn="l">
              <a:spcBef>
                <a:spcPts val="0"/>
              </a:spcBef>
              <a:spcAft>
                <a:spcPts val="0"/>
              </a:spcAft>
              <a:buClr>
                <a:schemeClr val="dk1"/>
              </a:buClr>
              <a:buSzPts val="1800"/>
              <a:buFont typeface="Noto Sans Symbols"/>
              <a:buChar char="❖"/>
            </a:pPr>
            <a:r>
              <a:rPr lang="en-IN" sz="1800">
                <a:solidFill>
                  <a:schemeClr val="dk1"/>
                </a:solidFill>
                <a:latin typeface="Calibri"/>
                <a:ea typeface="Calibri"/>
                <a:cs typeface="Calibri"/>
                <a:sym typeface="Calibri"/>
              </a:rPr>
              <a:t> 21BQ1A42F3   Rithika Edara</a:t>
            </a:r>
            <a:endParaRPr/>
          </a:p>
          <a:p>
            <a:pPr indent="-285750" lvl="0" marL="285750" marR="0" rtl="0" algn="l">
              <a:spcBef>
                <a:spcPts val="0"/>
              </a:spcBef>
              <a:spcAft>
                <a:spcPts val="0"/>
              </a:spcAft>
              <a:buClr>
                <a:schemeClr val="dk1"/>
              </a:buClr>
              <a:buSzPts val="1800"/>
              <a:buFont typeface="Noto Sans Symbols"/>
              <a:buChar char="❖"/>
            </a:pPr>
            <a:r>
              <a:rPr lang="en-IN" sz="1800">
                <a:solidFill>
                  <a:schemeClr val="dk1"/>
                </a:solidFill>
                <a:latin typeface="Calibri"/>
                <a:ea typeface="Calibri"/>
                <a:cs typeface="Calibri"/>
                <a:sym typeface="Calibri"/>
              </a:rPr>
              <a:t> 21BQ1A42D6   Mahesh Palakaluri</a:t>
            </a:r>
            <a:endParaRPr/>
          </a:p>
          <a:p>
            <a:pPr indent="-285750" lvl="0" marL="285750" marR="0" rtl="0" algn="l">
              <a:spcBef>
                <a:spcPts val="0"/>
              </a:spcBef>
              <a:spcAft>
                <a:spcPts val="0"/>
              </a:spcAft>
              <a:buClr>
                <a:schemeClr val="dk1"/>
              </a:buClr>
              <a:buSzPts val="1800"/>
              <a:buFont typeface="Noto Sans Symbols"/>
              <a:buChar char="❖"/>
            </a:pPr>
            <a:r>
              <a:rPr lang="en-IN" sz="1800">
                <a:solidFill>
                  <a:schemeClr val="dk1"/>
                </a:solidFill>
                <a:latin typeface="Calibri"/>
                <a:ea typeface="Calibri"/>
                <a:cs typeface="Calibri"/>
                <a:sym typeface="Calibri"/>
              </a:rPr>
              <a:t> 21BQ1A42I4    Chaitanya Yaragalla</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IN" sz="1800">
                <a:solidFill>
                  <a:srgbClr val="111111"/>
                </a:solidFill>
                <a:latin typeface="Arial"/>
                <a:ea typeface="Arial"/>
                <a:cs typeface="Arial"/>
                <a:sym typeface="Arial"/>
              </a:rPr>
              <a:t>Under the Guidance of:</a:t>
            </a:r>
            <a:endParaRPr/>
          </a:p>
          <a:p>
            <a:pPr indent="0" lvl="0" marL="0" marR="0" rtl="0" algn="l">
              <a:spcBef>
                <a:spcPts val="0"/>
              </a:spcBef>
              <a:spcAft>
                <a:spcPts val="0"/>
              </a:spcAft>
              <a:buNone/>
            </a:pPr>
            <a:r>
              <a:t/>
            </a:r>
            <a:endParaRPr sz="1800">
              <a:solidFill>
                <a:srgbClr val="111111"/>
              </a:solidFill>
              <a:latin typeface="Arial"/>
              <a:ea typeface="Arial"/>
              <a:cs typeface="Arial"/>
              <a:sym typeface="Arial"/>
            </a:endParaRPr>
          </a:p>
          <a:p>
            <a:pPr indent="0" lvl="0" marL="0" marR="0" rtl="0" algn="l">
              <a:spcBef>
                <a:spcPts val="0"/>
              </a:spcBef>
              <a:spcAft>
                <a:spcPts val="0"/>
              </a:spcAft>
              <a:buNone/>
            </a:pPr>
            <a:r>
              <a:rPr b="1" lang="en-IN" sz="1800">
                <a:solidFill>
                  <a:srgbClr val="111111"/>
                </a:solidFill>
                <a:latin typeface="Arial"/>
                <a:ea typeface="Arial"/>
                <a:cs typeface="Arial"/>
                <a:sym typeface="Arial"/>
              </a:rPr>
              <a:t>(Project Guide)</a:t>
            </a:r>
            <a:r>
              <a:rPr lang="en-IN" sz="1800">
                <a:solidFill>
                  <a:srgbClr val="111111"/>
                </a:solidFill>
                <a:latin typeface="Arial"/>
                <a:ea typeface="Arial"/>
                <a:cs typeface="Arial"/>
                <a:sym typeface="Arial"/>
              </a:rPr>
              <a:t>									</a:t>
            </a:r>
            <a:r>
              <a:rPr b="1" lang="en-IN" sz="1800">
                <a:solidFill>
                  <a:srgbClr val="111111"/>
                </a:solidFill>
                <a:latin typeface="Arial"/>
                <a:ea typeface="Arial"/>
                <a:cs typeface="Arial"/>
                <a:sym typeface="Arial"/>
              </a:rPr>
              <a:t>  HOD-CSM</a:t>
            </a:r>
            <a:r>
              <a:rPr lang="en-IN" sz="1800">
                <a:solidFill>
                  <a:srgbClr val="111111"/>
                </a:solidFill>
                <a:latin typeface="Arial"/>
                <a:ea typeface="Arial"/>
                <a:cs typeface="Arial"/>
                <a:sym typeface="Arial"/>
              </a:rPr>
              <a:t>,</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Dr. K. Gnanendra</a:t>
            </a:r>
            <a:r>
              <a:rPr lang="en-IN" sz="1800">
                <a:solidFill>
                  <a:srgbClr val="111111"/>
                </a:solidFill>
                <a:latin typeface="Arial"/>
                <a:ea typeface="Arial"/>
                <a:cs typeface="Arial"/>
                <a:sym typeface="Arial"/>
              </a:rPr>
              <a:t>								             Dr.K.Suresh Babu</a:t>
            </a:r>
            <a:endParaRPr/>
          </a:p>
          <a:p>
            <a:pPr indent="-171450" lvl="0" marL="285750" marR="0" rtl="0" algn="l">
              <a:spcBef>
                <a:spcPts val="0"/>
              </a:spcBef>
              <a:spcAft>
                <a:spcPts val="0"/>
              </a:spcAft>
              <a:buClr>
                <a:schemeClr val="dk1"/>
              </a:buClr>
              <a:buSzPts val="1800"/>
              <a:buFont typeface="Noto Sans Symbols"/>
              <a:buNone/>
            </a:pPr>
            <a:r>
              <a:t/>
            </a:r>
            <a:endParaRPr sz="1800">
              <a:solidFill>
                <a:srgbClr val="111111"/>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Noto Sans Symbols"/>
              <a:buNone/>
            </a:pPr>
            <a:r>
              <a:t/>
            </a:r>
            <a:endParaRPr sz="1800">
              <a:solidFill>
                <a:srgbClr val="111111"/>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Noto Sans Symbols"/>
              <a:buNone/>
            </a:pPr>
            <a:r>
              <a:t/>
            </a:r>
            <a:endParaRPr sz="1800">
              <a:solidFill>
                <a:srgbClr val="111111"/>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p:txBody>
      </p:sp>
      <p:sp>
        <p:nvSpPr>
          <p:cNvPr id="91" name="Google Shape;91;p1"/>
          <p:cNvSpPr txBox="1"/>
          <p:nvPr/>
        </p:nvSpPr>
        <p:spPr>
          <a:xfrm>
            <a:off x="9019387" y="117032"/>
            <a:ext cx="310870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Team:BATCH7</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21BQ1A42I1,                         21BQ1A42F3,</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21BQ1A42D6,                        21BQ1A42I4</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p:nvPr/>
        </p:nvSpPr>
        <p:spPr>
          <a:xfrm>
            <a:off x="-1" y="-53980"/>
            <a:ext cx="12192000" cy="837398"/>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rgbClr val="FFFF00"/>
                </a:solidFill>
                <a:latin typeface="Times New Roman"/>
                <a:ea typeface="Times New Roman"/>
                <a:cs typeface="Times New Roman"/>
                <a:sym typeface="Times New Roman"/>
              </a:rPr>
              <a:t>                           Department of CSE-AI &amp; ML (CSM)</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 name="Google Shape;97;p2"/>
          <p:cNvSpPr/>
          <p:nvPr/>
        </p:nvSpPr>
        <p:spPr>
          <a:xfrm>
            <a:off x="0" y="6464710"/>
            <a:ext cx="12192000" cy="393289"/>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98" name="Google Shape;98;p2"/>
          <p:cNvPicPr preferRelativeResize="0"/>
          <p:nvPr/>
        </p:nvPicPr>
        <p:blipFill rotWithShape="1">
          <a:blip r:embed="rId3">
            <a:alphaModFix/>
          </a:blip>
          <a:srcRect b="0" l="0" r="0" t="0"/>
          <a:stretch/>
        </p:blipFill>
        <p:spPr>
          <a:xfrm>
            <a:off x="63911" y="-38004"/>
            <a:ext cx="3229896" cy="750273"/>
          </a:xfrm>
          <a:prstGeom prst="rect">
            <a:avLst/>
          </a:prstGeom>
          <a:noFill/>
          <a:ln>
            <a:noFill/>
          </a:ln>
        </p:spPr>
      </p:pic>
      <p:sp>
        <p:nvSpPr>
          <p:cNvPr id="99" name="Google Shape;99;p2"/>
          <p:cNvSpPr txBox="1"/>
          <p:nvPr>
            <p:ph idx="10" type="dt"/>
          </p:nvPr>
        </p:nvSpPr>
        <p:spPr>
          <a:xfrm>
            <a:off x="0" y="6460922"/>
            <a:ext cx="99797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rgbClr val="FF33CC"/>
                </a:solidFill>
              </a:rPr>
              <a:t>14-04-2025</a:t>
            </a:r>
            <a:endParaRPr>
              <a:solidFill>
                <a:srgbClr val="FF33CC"/>
              </a:solidFill>
            </a:endParaRPr>
          </a:p>
        </p:txBody>
      </p:sp>
      <p:sp>
        <p:nvSpPr>
          <p:cNvPr id="100" name="Google Shape;100;p2"/>
          <p:cNvSpPr txBox="1"/>
          <p:nvPr>
            <p:ph idx="11" type="ftr"/>
          </p:nvPr>
        </p:nvSpPr>
        <p:spPr>
          <a:xfrm>
            <a:off x="3999271" y="6473622"/>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rgbClr val="FF33CC"/>
                </a:solidFill>
              </a:rPr>
              <a:t>VVIT @ Dept. CSM</a:t>
            </a:r>
            <a:endParaRPr/>
          </a:p>
        </p:txBody>
      </p:sp>
      <p:sp>
        <p:nvSpPr>
          <p:cNvPr id="101" name="Google Shape;101;p2"/>
          <p:cNvSpPr txBox="1"/>
          <p:nvPr>
            <p:ph idx="12" type="sldNum"/>
          </p:nvPr>
        </p:nvSpPr>
        <p:spPr>
          <a:xfrm>
            <a:off x="11488994" y="6478792"/>
            <a:ext cx="614516" cy="34725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rgbClr val="FF33CC"/>
                </a:solidFill>
              </a:rPr>
              <a:t>‹#›</a:t>
            </a:fld>
            <a:endParaRPr>
              <a:solidFill>
                <a:srgbClr val="FF33CC"/>
              </a:solidFill>
            </a:endParaRPr>
          </a:p>
        </p:txBody>
      </p:sp>
      <p:sp>
        <p:nvSpPr>
          <p:cNvPr id="102" name="Google Shape;102;p2"/>
          <p:cNvSpPr txBox="1"/>
          <p:nvPr/>
        </p:nvSpPr>
        <p:spPr>
          <a:xfrm>
            <a:off x="9019387" y="117032"/>
            <a:ext cx="310870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Team:BATCH7</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21BQ1A42I1,                         21BQ1A42F3,</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21BQ1A42D6,                        21BQ1A42I4</a:t>
            </a:r>
            <a:endParaRPr sz="1800">
              <a:solidFill>
                <a:schemeClr val="dk1"/>
              </a:solidFill>
              <a:latin typeface="Calibri"/>
              <a:ea typeface="Calibri"/>
              <a:cs typeface="Calibri"/>
              <a:sym typeface="Calibri"/>
            </a:endParaRPr>
          </a:p>
        </p:txBody>
      </p:sp>
      <p:sp>
        <p:nvSpPr>
          <p:cNvPr id="103" name="Google Shape;103;p2"/>
          <p:cNvSpPr txBox="1"/>
          <p:nvPr/>
        </p:nvSpPr>
        <p:spPr>
          <a:xfrm flipH="1">
            <a:off x="209229" y="491954"/>
            <a:ext cx="11755401" cy="6001643"/>
          </a:xfrm>
          <a:prstGeom prst="rect">
            <a:avLst/>
          </a:prstGeom>
          <a:noFill/>
          <a:ln>
            <a:noFill/>
          </a:ln>
        </p:spPr>
        <p:txBody>
          <a:bodyPr anchorCtr="0" anchor="t" bIns="45700" lIns="91425" spcFirstLastPara="1" rIns="91425" wrap="square" tIns="45700">
            <a:spAutoFit/>
          </a:bodyPr>
          <a:lstStyle/>
          <a:p>
            <a:pPr indent="-171450" lvl="0" marL="285750" marR="0" rtl="0" algn="l">
              <a:spcBef>
                <a:spcPts val="0"/>
              </a:spcBef>
              <a:spcAft>
                <a:spcPts val="0"/>
              </a:spcAft>
              <a:buClr>
                <a:schemeClr val="dk1"/>
              </a:buClr>
              <a:buSzPts val="1800"/>
              <a:buFont typeface="Noto Sans Symbols"/>
              <a:buNone/>
            </a:pPr>
            <a:r>
              <a:t/>
            </a:r>
            <a:endParaRPr sz="1800">
              <a:solidFill>
                <a:srgbClr val="111111"/>
              </a:solidFill>
              <a:latin typeface="Arial"/>
              <a:ea typeface="Arial"/>
              <a:cs typeface="Arial"/>
              <a:sym typeface="Arial"/>
            </a:endParaRPr>
          </a:p>
          <a:p>
            <a:pPr indent="0" lvl="0" marL="0" marR="0" rtl="0" algn="l">
              <a:spcBef>
                <a:spcPts val="0"/>
              </a:spcBef>
              <a:spcAft>
                <a:spcPts val="0"/>
              </a:spcAft>
              <a:buNone/>
            </a:pPr>
            <a:r>
              <a:rPr b="1" lang="en-IN" sz="2400">
                <a:solidFill>
                  <a:srgbClr val="111111"/>
                </a:solidFill>
                <a:latin typeface="Arial"/>
                <a:ea typeface="Arial"/>
                <a:cs typeface="Arial"/>
                <a:sym typeface="Arial"/>
              </a:rPr>
              <a:t>Abstract:</a:t>
            </a:r>
            <a:endParaRPr/>
          </a:p>
          <a:p>
            <a:pPr indent="0" lvl="0" marL="0" marR="0" rtl="0" algn="just">
              <a:spcBef>
                <a:spcPts val="0"/>
              </a:spcBef>
              <a:spcAft>
                <a:spcPts val="0"/>
              </a:spcAft>
              <a:buClr>
                <a:schemeClr val="dk1"/>
              </a:buClr>
              <a:buSzPts val="1800"/>
              <a:buFont typeface="Calibri"/>
              <a:buNone/>
            </a:pPr>
            <a:r>
              <a:rPr lang="en-IN" sz="1800">
                <a:solidFill>
                  <a:schemeClr val="dk1"/>
                </a:solidFill>
                <a:latin typeface="Calibri"/>
                <a:ea typeface="Calibri"/>
                <a:cs typeface="Calibri"/>
                <a:sym typeface="Calibri"/>
              </a:rPr>
              <a:t>The </a:t>
            </a:r>
            <a:r>
              <a:rPr b="1" lang="en-IN" sz="1800">
                <a:solidFill>
                  <a:schemeClr val="dk1"/>
                </a:solidFill>
                <a:latin typeface="Calibri"/>
                <a:ea typeface="Calibri"/>
                <a:cs typeface="Calibri"/>
                <a:sym typeface="Calibri"/>
              </a:rPr>
              <a:t>Online Voting System Using Blockchain with Ethereum and Machine Learning</a:t>
            </a:r>
            <a:r>
              <a:rPr lang="en-IN" sz="1800">
                <a:solidFill>
                  <a:schemeClr val="dk1"/>
                </a:solidFill>
                <a:latin typeface="Calibri"/>
                <a:ea typeface="Calibri"/>
                <a:cs typeface="Calibri"/>
                <a:sym typeface="Calibri"/>
              </a:rPr>
              <a:t> is designed to provide a secure, transparent, and decentralized solution for modern elections. This system leverages the power of blockchain technology, specifically Ethereum with Ganache, to ensure the immutability and integrity of votes. By utilizing face recognition for voter authentication, the system further enhances security, preventing identity fraud and ensuring that only eligible voters can participate. Additionally, the integration of machine learning algorithms, including Decision Trees, Random Forests, and Logistic Regression, allows the system to predict future election trends based on historical data, providing valuable insights into the likely outcomes of elections.</a:t>
            </a:r>
            <a:endParaRPr/>
          </a:p>
          <a:p>
            <a:pPr indent="0" lvl="0" marL="0" marR="0" rtl="0" algn="just">
              <a:spcBef>
                <a:spcPts val="0"/>
              </a:spcBef>
              <a:spcAft>
                <a:spcPts val="0"/>
              </a:spcAft>
              <a:buClr>
                <a:schemeClr val="dk1"/>
              </a:buClr>
              <a:buSzPts val="1800"/>
              <a:buFont typeface="Calibri"/>
              <a:buNone/>
            </a:pPr>
            <a:r>
              <a:rPr lang="en-IN" sz="1800">
                <a:solidFill>
                  <a:schemeClr val="dk1"/>
                </a:solidFill>
                <a:latin typeface="Calibri"/>
                <a:ea typeface="Calibri"/>
                <a:cs typeface="Calibri"/>
                <a:sym typeface="Calibri"/>
              </a:rPr>
              <a:t>The system features several key components: </a:t>
            </a:r>
            <a:r>
              <a:rPr b="1" lang="en-IN" sz="1800">
                <a:solidFill>
                  <a:schemeClr val="dk1"/>
                </a:solidFill>
                <a:latin typeface="Calibri"/>
                <a:ea typeface="Calibri"/>
                <a:cs typeface="Calibri"/>
                <a:sym typeface="Calibri"/>
              </a:rPr>
              <a:t>Voter Registration &amp; Authentication</a:t>
            </a:r>
            <a:r>
              <a:rPr lang="en-IN" sz="1800">
                <a:solidFill>
                  <a:schemeClr val="dk1"/>
                </a:solidFill>
                <a:latin typeface="Calibri"/>
                <a:ea typeface="Calibri"/>
                <a:cs typeface="Calibri"/>
                <a:sym typeface="Calibri"/>
              </a:rPr>
              <a:t>, where voters are registered by the admin and verified using face recognition before voting; </a:t>
            </a:r>
            <a:r>
              <a:rPr b="1" lang="en-IN" sz="1800">
                <a:solidFill>
                  <a:schemeClr val="dk1"/>
                </a:solidFill>
                <a:latin typeface="Calibri"/>
                <a:ea typeface="Calibri"/>
                <a:cs typeface="Calibri"/>
                <a:sym typeface="Calibri"/>
              </a:rPr>
              <a:t>Election &amp; Candidate Management</a:t>
            </a:r>
            <a:r>
              <a:rPr lang="en-IN" sz="1800">
                <a:solidFill>
                  <a:schemeClr val="dk1"/>
                </a:solidFill>
                <a:latin typeface="Calibri"/>
                <a:ea typeface="Calibri"/>
                <a:cs typeface="Calibri"/>
                <a:sym typeface="Calibri"/>
              </a:rPr>
              <a:t>, which allows the admin to create new elections and add candidates, with all data securely stored on the blockchain for transparency; </a:t>
            </a:r>
            <a:r>
              <a:rPr b="1" lang="en-IN" sz="1800">
                <a:solidFill>
                  <a:schemeClr val="dk1"/>
                </a:solidFill>
                <a:latin typeface="Calibri"/>
                <a:ea typeface="Calibri"/>
                <a:cs typeface="Calibri"/>
                <a:sym typeface="Calibri"/>
              </a:rPr>
              <a:t>Secure &amp; Transparent Voting Process</a:t>
            </a:r>
            <a:r>
              <a:rPr lang="en-IN" sz="1800">
                <a:solidFill>
                  <a:schemeClr val="dk1"/>
                </a:solidFill>
                <a:latin typeface="Calibri"/>
                <a:ea typeface="Calibri"/>
                <a:cs typeface="Calibri"/>
                <a:sym typeface="Calibri"/>
              </a:rPr>
              <a:t>, where votes are digitally cast and recorded on the Ethereum blockchain to prevent manipulation; and </a:t>
            </a:r>
            <a:r>
              <a:rPr b="1" lang="en-IN" sz="1800">
                <a:solidFill>
                  <a:schemeClr val="dk1"/>
                </a:solidFill>
                <a:latin typeface="Calibri"/>
                <a:ea typeface="Calibri"/>
                <a:cs typeface="Calibri"/>
                <a:sym typeface="Calibri"/>
              </a:rPr>
              <a:t>Election Results &amp; Voter Insights</a:t>
            </a:r>
            <a:r>
              <a:rPr lang="en-IN" sz="1800">
                <a:solidFill>
                  <a:schemeClr val="dk1"/>
                </a:solidFill>
                <a:latin typeface="Calibri"/>
                <a:ea typeface="Calibri"/>
                <a:cs typeface="Calibri"/>
                <a:sym typeface="Calibri"/>
              </a:rPr>
              <a:t>, where results are displayed securely after voting and provide real-time insights into the election process. The system also includes a feature for </a:t>
            </a:r>
            <a:r>
              <a:rPr b="1" lang="en-IN" sz="1800">
                <a:solidFill>
                  <a:schemeClr val="dk1"/>
                </a:solidFill>
                <a:latin typeface="Calibri"/>
                <a:ea typeface="Calibri"/>
                <a:cs typeface="Calibri"/>
                <a:sym typeface="Calibri"/>
              </a:rPr>
              <a:t>Future Election Prediction</a:t>
            </a:r>
            <a:r>
              <a:rPr lang="en-IN" sz="1800">
                <a:solidFill>
                  <a:schemeClr val="dk1"/>
                </a:solidFill>
                <a:latin typeface="Calibri"/>
                <a:ea typeface="Calibri"/>
                <a:cs typeface="Calibri"/>
                <a:sym typeface="Calibri"/>
              </a:rPr>
              <a:t>, where machine learning models predict outcomes based on multiple factors such as party, age, education, and other relevant parameters.</a:t>
            </a:r>
            <a:endParaRPr/>
          </a:p>
          <a:p>
            <a:pPr indent="0" lvl="0" marL="0" marR="0" rtl="0" algn="just">
              <a:spcBef>
                <a:spcPts val="0"/>
              </a:spcBef>
              <a:spcAft>
                <a:spcPts val="0"/>
              </a:spcAft>
              <a:buNone/>
            </a:pPr>
            <a:r>
              <a:rPr lang="en-IN" sz="1800">
                <a:solidFill>
                  <a:schemeClr val="dk1"/>
                </a:solidFill>
                <a:latin typeface="Calibri"/>
                <a:ea typeface="Calibri"/>
                <a:cs typeface="Calibri"/>
                <a:sym typeface="Calibri"/>
              </a:rPr>
              <a:t>This blockchain-based online voting system ensures that the election process is fair, transparent, and secure, and that voter data is protected. The integration of machine learning provides valuable predictions and insights into voting trends, helping stakeholders make informed decisions. By employing advanced technologies such as blockchain and machine learning, the system aims to enhance trust in digital voting and promote democratic practices globally, ensuring a more reliable, efficient, and secure election process.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
          <p:cNvSpPr/>
          <p:nvPr/>
        </p:nvSpPr>
        <p:spPr>
          <a:xfrm>
            <a:off x="-1" y="-53980"/>
            <a:ext cx="12192000" cy="837398"/>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rgbClr val="FFFF00"/>
                </a:solidFill>
                <a:latin typeface="Times New Roman"/>
                <a:ea typeface="Times New Roman"/>
                <a:cs typeface="Times New Roman"/>
                <a:sym typeface="Times New Roman"/>
              </a:rPr>
              <a:t>                           Department of CSE-AI &amp; ML (CSM)</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 name="Google Shape;109;p3"/>
          <p:cNvSpPr/>
          <p:nvPr/>
        </p:nvSpPr>
        <p:spPr>
          <a:xfrm>
            <a:off x="0" y="6464710"/>
            <a:ext cx="12192000" cy="393289"/>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10" name="Google Shape;110;p3"/>
          <p:cNvPicPr preferRelativeResize="0"/>
          <p:nvPr/>
        </p:nvPicPr>
        <p:blipFill rotWithShape="1">
          <a:blip r:embed="rId3">
            <a:alphaModFix/>
          </a:blip>
          <a:srcRect b="0" l="0" r="0" t="0"/>
          <a:stretch/>
        </p:blipFill>
        <p:spPr>
          <a:xfrm>
            <a:off x="63911" y="-38004"/>
            <a:ext cx="3229896" cy="750273"/>
          </a:xfrm>
          <a:prstGeom prst="rect">
            <a:avLst/>
          </a:prstGeom>
          <a:noFill/>
          <a:ln>
            <a:noFill/>
          </a:ln>
        </p:spPr>
      </p:pic>
      <p:sp>
        <p:nvSpPr>
          <p:cNvPr id="111" name="Google Shape;111;p3"/>
          <p:cNvSpPr txBox="1"/>
          <p:nvPr>
            <p:ph idx="10" type="dt"/>
          </p:nvPr>
        </p:nvSpPr>
        <p:spPr>
          <a:xfrm>
            <a:off x="0" y="6460922"/>
            <a:ext cx="99797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rgbClr val="FF33CC"/>
                </a:solidFill>
              </a:rPr>
              <a:t>14-04-2025</a:t>
            </a:r>
            <a:endParaRPr>
              <a:solidFill>
                <a:srgbClr val="FF33CC"/>
              </a:solidFill>
            </a:endParaRPr>
          </a:p>
        </p:txBody>
      </p:sp>
      <p:sp>
        <p:nvSpPr>
          <p:cNvPr id="112" name="Google Shape;112;p3"/>
          <p:cNvSpPr txBox="1"/>
          <p:nvPr>
            <p:ph idx="11" type="ftr"/>
          </p:nvPr>
        </p:nvSpPr>
        <p:spPr>
          <a:xfrm>
            <a:off x="3999271" y="6473622"/>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rgbClr val="FF33CC"/>
                </a:solidFill>
              </a:rPr>
              <a:t>VVIT @ Dept. CSM</a:t>
            </a:r>
            <a:endParaRPr/>
          </a:p>
        </p:txBody>
      </p:sp>
      <p:sp>
        <p:nvSpPr>
          <p:cNvPr id="113" name="Google Shape;113;p3"/>
          <p:cNvSpPr txBox="1"/>
          <p:nvPr>
            <p:ph idx="12" type="sldNum"/>
          </p:nvPr>
        </p:nvSpPr>
        <p:spPr>
          <a:xfrm>
            <a:off x="11488994" y="6478792"/>
            <a:ext cx="614516" cy="34725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rgbClr val="FF33CC"/>
                </a:solidFill>
              </a:rPr>
              <a:t>‹#›</a:t>
            </a:fld>
            <a:endParaRPr>
              <a:solidFill>
                <a:srgbClr val="FF33CC"/>
              </a:solidFill>
            </a:endParaRPr>
          </a:p>
        </p:txBody>
      </p:sp>
      <p:sp>
        <p:nvSpPr>
          <p:cNvPr id="114" name="Google Shape;114;p3"/>
          <p:cNvSpPr txBox="1"/>
          <p:nvPr/>
        </p:nvSpPr>
        <p:spPr>
          <a:xfrm>
            <a:off x="9019387" y="117032"/>
            <a:ext cx="310870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Team:BATCH7</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21BQ1A42I1,                         21BQ1A42F3,</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21BQ1A42D6,                        21BQ1A42I4</a:t>
            </a:r>
            <a:endParaRPr sz="1800">
              <a:solidFill>
                <a:schemeClr val="dk1"/>
              </a:solidFill>
              <a:latin typeface="Calibri"/>
              <a:ea typeface="Calibri"/>
              <a:cs typeface="Calibri"/>
              <a:sym typeface="Calibri"/>
            </a:endParaRPr>
          </a:p>
        </p:txBody>
      </p:sp>
      <p:sp>
        <p:nvSpPr>
          <p:cNvPr id="115" name="Google Shape;115;p3"/>
          <p:cNvSpPr txBox="1"/>
          <p:nvPr/>
        </p:nvSpPr>
        <p:spPr>
          <a:xfrm flipH="1">
            <a:off x="-1" y="799394"/>
            <a:ext cx="12128090" cy="532453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2000"/>
              <a:buFont typeface="Calibri"/>
              <a:buNone/>
            </a:pPr>
            <a:r>
              <a:rPr lang="en-IN" sz="2000">
                <a:solidFill>
                  <a:schemeClr val="dk1"/>
                </a:solidFill>
                <a:latin typeface="Calibri"/>
                <a:ea typeface="Calibri"/>
                <a:cs typeface="Calibri"/>
                <a:sym typeface="Calibri"/>
              </a:rPr>
              <a:t>The </a:t>
            </a:r>
            <a:r>
              <a:rPr b="1" lang="en-IN" sz="2000">
                <a:solidFill>
                  <a:schemeClr val="dk1"/>
                </a:solidFill>
                <a:latin typeface="Calibri"/>
                <a:ea typeface="Calibri"/>
                <a:cs typeface="Calibri"/>
                <a:sym typeface="Calibri"/>
              </a:rPr>
              <a:t>"Online Voting System Using Blockchain with Ethereum and Machine Learning"</a:t>
            </a:r>
            <a:r>
              <a:rPr lang="en-IN" sz="2000">
                <a:solidFill>
                  <a:schemeClr val="dk1"/>
                </a:solidFill>
                <a:latin typeface="Calibri"/>
                <a:ea typeface="Calibri"/>
                <a:cs typeface="Calibri"/>
                <a:sym typeface="Calibri"/>
              </a:rPr>
              <a:t> provides a comprehensive solution to modernize and secure the electoral process. By utilizing </a:t>
            </a:r>
            <a:r>
              <a:rPr b="1" lang="en-IN" sz="2000">
                <a:solidFill>
                  <a:schemeClr val="dk1"/>
                </a:solidFill>
                <a:latin typeface="Calibri"/>
                <a:ea typeface="Calibri"/>
                <a:cs typeface="Calibri"/>
                <a:sym typeface="Calibri"/>
              </a:rPr>
              <a:t>Ethereum blockchain</a:t>
            </a:r>
            <a:r>
              <a:rPr lang="en-IN" sz="2000">
                <a:solidFill>
                  <a:schemeClr val="dk1"/>
                </a:solidFill>
                <a:latin typeface="Calibri"/>
                <a:ea typeface="Calibri"/>
                <a:cs typeface="Calibri"/>
                <a:sym typeface="Calibri"/>
              </a:rPr>
              <a:t>, the system ensures that every vote cast is immutable, transparent, and tamper-proof. Voter authentication is made secure through </a:t>
            </a:r>
            <a:r>
              <a:rPr b="1" lang="en-IN" sz="2000">
                <a:solidFill>
                  <a:schemeClr val="dk1"/>
                </a:solidFill>
                <a:latin typeface="Calibri"/>
                <a:ea typeface="Calibri"/>
                <a:cs typeface="Calibri"/>
                <a:sym typeface="Calibri"/>
              </a:rPr>
              <a:t>face recognition technology</a:t>
            </a:r>
            <a:r>
              <a:rPr lang="en-IN" sz="2000">
                <a:solidFill>
                  <a:schemeClr val="dk1"/>
                </a:solidFill>
                <a:latin typeface="Calibri"/>
                <a:ea typeface="Calibri"/>
                <a:cs typeface="Calibri"/>
                <a:sym typeface="Calibri"/>
              </a:rPr>
              <a:t>, preventing identity fraud and allowing only registered voters to participate.</a:t>
            </a:r>
            <a:endParaRPr/>
          </a:p>
          <a:p>
            <a:pPr indent="0" lvl="0" marL="0" marR="0" rtl="0" algn="just">
              <a:spcBef>
                <a:spcPts val="0"/>
              </a:spcBef>
              <a:spcAft>
                <a:spcPts val="0"/>
              </a:spcAft>
              <a:buClr>
                <a:schemeClr val="dk1"/>
              </a:buClr>
              <a:buSzPts val="2000"/>
              <a:buFont typeface="Calibri"/>
              <a:buNone/>
            </a:pPr>
            <a:r>
              <a:rPr lang="en-IN" sz="2000">
                <a:solidFill>
                  <a:schemeClr val="dk1"/>
                </a:solidFill>
                <a:latin typeface="Calibri"/>
                <a:ea typeface="Calibri"/>
                <a:cs typeface="Calibri"/>
                <a:sym typeface="Calibri"/>
              </a:rPr>
              <a:t>The system leverages </a:t>
            </a:r>
            <a:r>
              <a:rPr b="1" lang="en-IN" sz="2000">
                <a:solidFill>
                  <a:schemeClr val="dk1"/>
                </a:solidFill>
                <a:latin typeface="Calibri"/>
                <a:ea typeface="Calibri"/>
                <a:cs typeface="Calibri"/>
                <a:sym typeface="Calibri"/>
              </a:rPr>
              <a:t>machine learning algorithms</a:t>
            </a:r>
            <a:r>
              <a:rPr lang="en-IN" sz="2000">
                <a:solidFill>
                  <a:schemeClr val="dk1"/>
                </a:solidFill>
                <a:latin typeface="Calibri"/>
                <a:ea typeface="Calibri"/>
                <a:cs typeface="Calibri"/>
                <a:sym typeface="Calibri"/>
              </a:rPr>
              <a:t> like </a:t>
            </a:r>
            <a:r>
              <a:rPr b="1" lang="en-IN" sz="2000">
                <a:solidFill>
                  <a:schemeClr val="dk1"/>
                </a:solidFill>
                <a:latin typeface="Calibri"/>
                <a:ea typeface="Calibri"/>
                <a:cs typeface="Calibri"/>
                <a:sym typeface="Calibri"/>
              </a:rPr>
              <a:t>Decision Tree, Random Forest,</a:t>
            </a:r>
            <a:r>
              <a:rPr lang="en-IN" sz="2000">
                <a:solidFill>
                  <a:schemeClr val="dk1"/>
                </a:solidFill>
                <a:latin typeface="Calibri"/>
                <a:ea typeface="Calibri"/>
                <a:cs typeface="Calibri"/>
                <a:sym typeface="Calibri"/>
              </a:rPr>
              <a:t> and </a:t>
            </a:r>
            <a:r>
              <a:rPr b="1" lang="en-IN" sz="2000">
                <a:solidFill>
                  <a:schemeClr val="dk1"/>
                </a:solidFill>
                <a:latin typeface="Calibri"/>
                <a:ea typeface="Calibri"/>
                <a:cs typeface="Calibri"/>
                <a:sym typeface="Calibri"/>
              </a:rPr>
              <a:t>Logistic Regression</a:t>
            </a:r>
            <a:r>
              <a:rPr lang="en-IN" sz="2000">
                <a:solidFill>
                  <a:schemeClr val="dk1"/>
                </a:solidFill>
                <a:latin typeface="Calibri"/>
                <a:ea typeface="Calibri"/>
                <a:cs typeface="Calibri"/>
                <a:sym typeface="Calibri"/>
              </a:rPr>
              <a:t> to predict future election outcomes based on historical data, helping provide insights into voting trends and potential election results. The </a:t>
            </a:r>
            <a:r>
              <a:rPr b="1" lang="en-IN" sz="2000">
                <a:solidFill>
                  <a:schemeClr val="dk1"/>
                </a:solidFill>
                <a:latin typeface="Calibri"/>
                <a:ea typeface="Calibri"/>
                <a:cs typeface="Calibri"/>
                <a:sym typeface="Calibri"/>
              </a:rPr>
              <a:t>secure voting process</a:t>
            </a:r>
            <a:r>
              <a:rPr lang="en-IN" sz="2000">
                <a:solidFill>
                  <a:schemeClr val="dk1"/>
                </a:solidFill>
                <a:latin typeface="Calibri"/>
                <a:ea typeface="Calibri"/>
                <a:cs typeface="Calibri"/>
                <a:sym typeface="Calibri"/>
              </a:rPr>
              <a:t> ensures that each vote is recorded on the blockchain, eliminating any risk of manipulation.</a:t>
            </a:r>
            <a:endParaRPr/>
          </a:p>
          <a:p>
            <a:pPr indent="0" lvl="0" marL="0" marR="0" rtl="0" algn="just">
              <a:spcBef>
                <a:spcPts val="0"/>
              </a:spcBef>
              <a:spcAft>
                <a:spcPts val="0"/>
              </a:spcAft>
              <a:buNone/>
            </a:pPr>
            <a:r>
              <a:rPr lang="en-IN" sz="2000">
                <a:solidFill>
                  <a:schemeClr val="dk1"/>
                </a:solidFill>
                <a:latin typeface="Calibri"/>
                <a:ea typeface="Calibri"/>
                <a:cs typeface="Calibri"/>
                <a:sym typeface="Calibri"/>
              </a:rPr>
              <a:t>The proposed solution also ensures that the election process is transparent, as all votes are publicly verifiable on the blockchain. This system addresses the need for a more </a:t>
            </a:r>
            <a:r>
              <a:rPr b="1" lang="en-IN" sz="2000">
                <a:solidFill>
                  <a:schemeClr val="dk1"/>
                </a:solidFill>
                <a:latin typeface="Calibri"/>
                <a:ea typeface="Calibri"/>
                <a:cs typeface="Calibri"/>
                <a:sym typeface="Calibri"/>
              </a:rPr>
              <a:t>secure, efficient, and transparent voting process</a:t>
            </a:r>
            <a:r>
              <a:rPr lang="en-IN" sz="2000">
                <a:solidFill>
                  <a:schemeClr val="dk1"/>
                </a:solidFill>
                <a:latin typeface="Calibri"/>
                <a:ea typeface="Calibri"/>
                <a:cs typeface="Calibri"/>
                <a:sym typeface="Calibri"/>
              </a:rPr>
              <a:t>, ensuring trust in the digital voting system and enabling smoother, faster elections.</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b="1" lang="en-IN" sz="2000">
                <a:solidFill>
                  <a:schemeClr val="dk1"/>
                </a:solidFill>
                <a:latin typeface="Calibri"/>
                <a:ea typeface="Calibri"/>
                <a:cs typeface="Calibri"/>
                <a:sym typeface="Calibri"/>
              </a:rPr>
              <a:t>Functional Requirements :</a:t>
            </a:r>
            <a:endParaRPr/>
          </a:p>
          <a:p>
            <a:pPr indent="-127000" lvl="0" marL="0" marR="0" rtl="0" algn="l">
              <a:spcBef>
                <a:spcPts val="0"/>
              </a:spcBef>
              <a:spcAft>
                <a:spcPts val="0"/>
              </a:spcAft>
              <a:buClr>
                <a:schemeClr val="dk1"/>
              </a:buClr>
              <a:buSzPts val="2000"/>
              <a:buFont typeface="Arial"/>
              <a:buChar char="•"/>
            </a:pPr>
            <a:r>
              <a:rPr b="1" lang="en-IN" sz="2000">
                <a:solidFill>
                  <a:schemeClr val="dk1"/>
                </a:solidFill>
                <a:latin typeface="Calibri"/>
                <a:ea typeface="Calibri"/>
                <a:cs typeface="Calibri"/>
                <a:sym typeface="Calibri"/>
              </a:rPr>
              <a:t>Voter Registration and Authentication</a:t>
            </a:r>
            <a:r>
              <a:rPr lang="en-IN" sz="2000">
                <a:solidFill>
                  <a:schemeClr val="dk1"/>
                </a:solidFill>
                <a:latin typeface="Calibri"/>
                <a:ea typeface="Calibri"/>
                <a:cs typeface="Calibri"/>
                <a:sym typeface="Calibri"/>
              </a:rPr>
              <a:t>:</a:t>
            </a:r>
            <a:endParaRPr/>
          </a:p>
          <a:p>
            <a:pPr indent="-285750" lvl="1" marL="7429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Calibri"/>
                <a:ea typeface="Calibri"/>
                <a:cs typeface="Calibri"/>
                <a:sym typeface="Calibri"/>
              </a:rPr>
              <a:t>Secure registration via face recognition.</a:t>
            </a:r>
            <a:endParaRPr/>
          </a:p>
          <a:p>
            <a:pPr indent="-285750" lvl="1" marL="7429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Calibri"/>
                <a:ea typeface="Calibri"/>
                <a:cs typeface="Calibri"/>
                <a:sym typeface="Calibri"/>
              </a:rPr>
              <a:t>Verification of identity to prevent fraudulent voting.</a:t>
            </a:r>
            <a:endParaRPr/>
          </a:p>
          <a:p>
            <a:pPr indent="-285750" lvl="1" marL="742950" marR="0" rtl="0" algn="l">
              <a:spcBef>
                <a:spcPts val="0"/>
              </a:spcBef>
              <a:spcAft>
                <a:spcPts val="0"/>
              </a:spcAft>
              <a:buClr>
                <a:schemeClr val="dk1"/>
              </a:buClr>
              <a:buSzPts val="2000"/>
              <a:buFont typeface="Arial"/>
              <a:buChar char="•"/>
            </a:pPr>
            <a:r>
              <a:rPr b="0" i="0" lang="en-IN" sz="2000" u="none" cap="none" strike="noStrike">
                <a:solidFill>
                  <a:schemeClr val="dk1"/>
                </a:solidFill>
                <a:latin typeface="Calibri"/>
                <a:ea typeface="Calibri"/>
                <a:cs typeface="Calibri"/>
                <a:sym typeface="Calibri"/>
              </a:rPr>
              <a:t>Customizable voter profiles with personal information.</a:t>
            </a:r>
            <a:endParaRPr b="1" i="1" sz="2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p:nvPr/>
        </p:nvSpPr>
        <p:spPr>
          <a:xfrm>
            <a:off x="-1" y="-53980"/>
            <a:ext cx="12192000" cy="837398"/>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rgbClr val="FFFF00"/>
                </a:solidFill>
                <a:latin typeface="Times New Roman"/>
                <a:ea typeface="Times New Roman"/>
                <a:cs typeface="Times New Roman"/>
                <a:sym typeface="Times New Roman"/>
              </a:rPr>
              <a:t>                           Department of CSE-AI &amp; ML (CSM)</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 name="Google Shape;121;p4"/>
          <p:cNvSpPr/>
          <p:nvPr/>
        </p:nvSpPr>
        <p:spPr>
          <a:xfrm>
            <a:off x="0" y="6464710"/>
            <a:ext cx="12192000" cy="393289"/>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22" name="Google Shape;122;p4"/>
          <p:cNvPicPr preferRelativeResize="0"/>
          <p:nvPr/>
        </p:nvPicPr>
        <p:blipFill rotWithShape="1">
          <a:blip r:embed="rId3">
            <a:alphaModFix/>
          </a:blip>
          <a:srcRect b="0" l="0" r="0" t="0"/>
          <a:stretch/>
        </p:blipFill>
        <p:spPr>
          <a:xfrm>
            <a:off x="63911" y="-38004"/>
            <a:ext cx="3229896" cy="750273"/>
          </a:xfrm>
          <a:prstGeom prst="rect">
            <a:avLst/>
          </a:prstGeom>
          <a:noFill/>
          <a:ln>
            <a:noFill/>
          </a:ln>
        </p:spPr>
      </p:pic>
      <p:sp>
        <p:nvSpPr>
          <p:cNvPr id="123" name="Google Shape;123;p4"/>
          <p:cNvSpPr txBox="1"/>
          <p:nvPr>
            <p:ph idx="10" type="dt"/>
          </p:nvPr>
        </p:nvSpPr>
        <p:spPr>
          <a:xfrm>
            <a:off x="0" y="6460922"/>
            <a:ext cx="99797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rgbClr val="FF33CC"/>
                </a:solidFill>
              </a:rPr>
              <a:t>14-04-2025</a:t>
            </a:r>
            <a:endParaRPr>
              <a:solidFill>
                <a:srgbClr val="FF33CC"/>
              </a:solidFill>
            </a:endParaRPr>
          </a:p>
        </p:txBody>
      </p:sp>
      <p:sp>
        <p:nvSpPr>
          <p:cNvPr id="124" name="Google Shape;124;p4"/>
          <p:cNvSpPr txBox="1"/>
          <p:nvPr>
            <p:ph idx="11" type="ftr"/>
          </p:nvPr>
        </p:nvSpPr>
        <p:spPr>
          <a:xfrm>
            <a:off x="3999271" y="6473622"/>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rgbClr val="FF33CC"/>
                </a:solidFill>
              </a:rPr>
              <a:t>VVIT @ Dept. CSM</a:t>
            </a:r>
            <a:endParaRPr/>
          </a:p>
        </p:txBody>
      </p:sp>
      <p:sp>
        <p:nvSpPr>
          <p:cNvPr id="125" name="Google Shape;125;p4"/>
          <p:cNvSpPr txBox="1"/>
          <p:nvPr>
            <p:ph idx="12" type="sldNum"/>
          </p:nvPr>
        </p:nvSpPr>
        <p:spPr>
          <a:xfrm>
            <a:off x="11488994" y="6478792"/>
            <a:ext cx="614516" cy="34725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rgbClr val="FF33CC"/>
                </a:solidFill>
              </a:rPr>
              <a:t>‹#›</a:t>
            </a:fld>
            <a:endParaRPr>
              <a:solidFill>
                <a:srgbClr val="FF33CC"/>
              </a:solidFill>
            </a:endParaRPr>
          </a:p>
        </p:txBody>
      </p:sp>
      <p:sp>
        <p:nvSpPr>
          <p:cNvPr id="126" name="Google Shape;126;p4"/>
          <p:cNvSpPr txBox="1"/>
          <p:nvPr/>
        </p:nvSpPr>
        <p:spPr>
          <a:xfrm>
            <a:off x="9019387" y="117032"/>
            <a:ext cx="310870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Team:BATCH7</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21BQ1A42I1,                         21BQ1A42F3,</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21BQ1A42D6,                        21BQ1A42I4</a:t>
            </a:r>
            <a:endParaRPr sz="1800">
              <a:solidFill>
                <a:schemeClr val="dk1"/>
              </a:solidFill>
              <a:latin typeface="Calibri"/>
              <a:ea typeface="Calibri"/>
              <a:cs typeface="Calibri"/>
              <a:sym typeface="Calibri"/>
            </a:endParaRPr>
          </a:p>
        </p:txBody>
      </p:sp>
      <p:sp>
        <p:nvSpPr>
          <p:cNvPr id="127" name="Google Shape;127;p4"/>
          <p:cNvSpPr txBox="1"/>
          <p:nvPr/>
        </p:nvSpPr>
        <p:spPr>
          <a:xfrm>
            <a:off x="762000" y="1752600"/>
            <a:ext cx="10553700"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Calibri"/>
              <a:buNone/>
            </a:pPr>
            <a:r>
              <a:rPr b="1" lang="en-IN" sz="2000">
                <a:solidFill>
                  <a:schemeClr val="dk1"/>
                </a:solidFill>
                <a:latin typeface="Calibri"/>
                <a:ea typeface="Calibri"/>
                <a:cs typeface="Calibri"/>
                <a:sym typeface="Calibri"/>
              </a:rPr>
              <a:t>Secure Voting Process</a:t>
            </a:r>
            <a:endParaRPr sz="2000">
              <a:solidFill>
                <a:schemeClr val="dk1"/>
              </a:solidFill>
              <a:latin typeface="Calibri"/>
              <a:ea typeface="Calibri"/>
              <a:cs typeface="Calibri"/>
              <a:sym typeface="Calibri"/>
            </a:endParaRPr>
          </a:p>
          <a:p>
            <a:pPr indent="-127000" lvl="0" marL="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Voters cast votes digitally, which are securely recorded on the </a:t>
            </a:r>
            <a:r>
              <a:rPr b="1" lang="en-IN" sz="2000">
                <a:solidFill>
                  <a:schemeClr val="dk1"/>
                </a:solidFill>
                <a:latin typeface="Calibri"/>
                <a:ea typeface="Calibri"/>
                <a:cs typeface="Calibri"/>
                <a:sym typeface="Calibri"/>
              </a:rPr>
              <a:t>Ethereum blockchain</a:t>
            </a:r>
            <a:r>
              <a:rPr lang="en-IN" sz="2000">
                <a:solidFill>
                  <a:schemeClr val="dk1"/>
                </a:solidFill>
                <a:latin typeface="Calibri"/>
                <a:ea typeface="Calibri"/>
                <a:cs typeface="Calibri"/>
                <a:sym typeface="Calibri"/>
              </a:rPr>
              <a:t>.</a:t>
            </a:r>
            <a:endParaRPr/>
          </a:p>
          <a:p>
            <a:pPr indent="-127000" lvl="0" marL="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Ensures </a:t>
            </a:r>
            <a:r>
              <a:rPr b="1" lang="en-IN" sz="2000">
                <a:solidFill>
                  <a:schemeClr val="dk1"/>
                </a:solidFill>
                <a:latin typeface="Calibri"/>
                <a:ea typeface="Calibri"/>
                <a:cs typeface="Calibri"/>
                <a:sym typeface="Calibri"/>
              </a:rPr>
              <a:t>immutability</a:t>
            </a:r>
            <a:r>
              <a:rPr lang="en-IN" sz="2000">
                <a:solidFill>
                  <a:schemeClr val="dk1"/>
                </a:solidFill>
                <a:latin typeface="Calibri"/>
                <a:ea typeface="Calibri"/>
                <a:cs typeface="Calibri"/>
                <a:sym typeface="Calibri"/>
              </a:rPr>
              <a:t>, transparency, and tamper-proof election results.</a:t>
            </a:r>
            <a:endParaRPr/>
          </a:p>
          <a:p>
            <a:pPr indent="-127000" lvl="0" marL="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Prevents duplicate votes, ensuring fairness in the election process.</a:t>
            </a:r>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000"/>
              <a:buFont typeface="Calibri"/>
              <a:buNone/>
            </a:pPr>
            <a:r>
              <a:rPr b="1" lang="en-IN" sz="2000">
                <a:solidFill>
                  <a:schemeClr val="dk1"/>
                </a:solidFill>
                <a:latin typeface="Calibri"/>
                <a:ea typeface="Calibri"/>
                <a:cs typeface="Calibri"/>
                <a:sym typeface="Calibri"/>
              </a:rPr>
              <a:t>Election Result Prediction with Machine Learning</a:t>
            </a:r>
            <a:endParaRPr sz="2000">
              <a:solidFill>
                <a:schemeClr val="dk1"/>
              </a:solidFill>
              <a:latin typeface="Calibri"/>
              <a:ea typeface="Calibri"/>
              <a:cs typeface="Calibri"/>
              <a:sym typeface="Calibri"/>
            </a:endParaRPr>
          </a:p>
          <a:p>
            <a:pPr indent="-127000" lvl="0" marL="0" marR="0" rtl="0" algn="l">
              <a:spcBef>
                <a:spcPts val="0"/>
              </a:spcBef>
              <a:spcAft>
                <a:spcPts val="0"/>
              </a:spcAft>
              <a:buClr>
                <a:schemeClr val="dk1"/>
              </a:buClr>
              <a:buSzPts val="2000"/>
              <a:buFont typeface="Arial"/>
              <a:buChar char="•"/>
            </a:pPr>
            <a:r>
              <a:rPr b="1" lang="en-IN" sz="2000">
                <a:solidFill>
                  <a:schemeClr val="dk1"/>
                </a:solidFill>
                <a:latin typeface="Calibri"/>
                <a:ea typeface="Calibri"/>
                <a:cs typeface="Calibri"/>
                <a:sym typeface="Calibri"/>
              </a:rPr>
              <a:t>Machine learning algorithms</a:t>
            </a:r>
            <a:r>
              <a:rPr lang="en-IN" sz="2000">
                <a:solidFill>
                  <a:schemeClr val="dk1"/>
                </a:solidFill>
                <a:latin typeface="Calibri"/>
                <a:ea typeface="Calibri"/>
                <a:cs typeface="Calibri"/>
                <a:sym typeface="Calibri"/>
              </a:rPr>
              <a:t> (Decision Tree, Random Forest, Logistic Regression) predict election outcomes.</a:t>
            </a:r>
            <a:endParaRPr/>
          </a:p>
          <a:p>
            <a:pPr indent="-127000" lvl="0" marL="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Predictive models use data such as party, demographics, criminal cases, education, and more.</a:t>
            </a:r>
            <a:endParaRPr/>
          </a:p>
          <a:p>
            <a:pPr indent="-127000" lvl="0" marL="0" marR="0" rtl="0" algn="l">
              <a:spcBef>
                <a:spcPts val="0"/>
              </a:spcBef>
              <a:spcAft>
                <a:spcPts val="0"/>
              </a:spcAft>
              <a:buClr>
                <a:schemeClr val="dk1"/>
              </a:buClr>
              <a:buSzPts val="2000"/>
              <a:buFont typeface="Arial"/>
              <a:buChar char="•"/>
            </a:pPr>
            <a:r>
              <a:rPr lang="en-IN" sz="2000">
                <a:solidFill>
                  <a:schemeClr val="dk1"/>
                </a:solidFill>
                <a:latin typeface="Calibri"/>
                <a:ea typeface="Calibri"/>
                <a:cs typeface="Calibri"/>
                <a:sym typeface="Calibri"/>
              </a:rPr>
              <a:t>Provides real-time insights into potential election results based on historical data.</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p:nvPr/>
        </p:nvSpPr>
        <p:spPr>
          <a:xfrm>
            <a:off x="-1" y="-53980"/>
            <a:ext cx="12192000" cy="837398"/>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rgbClr val="FFFF00"/>
                </a:solidFill>
                <a:latin typeface="Times New Roman"/>
                <a:ea typeface="Times New Roman"/>
                <a:cs typeface="Times New Roman"/>
                <a:sym typeface="Times New Roman"/>
              </a:rPr>
              <a:t>                           Department of CSE-AI &amp; ML (CSM)</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 name="Google Shape;133;p5"/>
          <p:cNvSpPr/>
          <p:nvPr/>
        </p:nvSpPr>
        <p:spPr>
          <a:xfrm>
            <a:off x="0" y="6464710"/>
            <a:ext cx="12192000" cy="393289"/>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34" name="Google Shape;134;p5"/>
          <p:cNvPicPr preferRelativeResize="0"/>
          <p:nvPr/>
        </p:nvPicPr>
        <p:blipFill rotWithShape="1">
          <a:blip r:embed="rId3">
            <a:alphaModFix/>
          </a:blip>
          <a:srcRect b="0" l="0" r="0" t="0"/>
          <a:stretch/>
        </p:blipFill>
        <p:spPr>
          <a:xfrm>
            <a:off x="63911" y="-38004"/>
            <a:ext cx="3229896" cy="750273"/>
          </a:xfrm>
          <a:prstGeom prst="rect">
            <a:avLst/>
          </a:prstGeom>
          <a:noFill/>
          <a:ln>
            <a:noFill/>
          </a:ln>
        </p:spPr>
      </p:pic>
      <p:sp>
        <p:nvSpPr>
          <p:cNvPr id="135" name="Google Shape;135;p5"/>
          <p:cNvSpPr txBox="1"/>
          <p:nvPr>
            <p:ph idx="10" type="dt"/>
          </p:nvPr>
        </p:nvSpPr>
        <p:spPr>
          <a:xfrm>
            <a:off x="0" y="6460922"/>
            <a:ext cx="99797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rgbClr val="FF33CC"/>
                </a:solidFill>
              </a:rPr>
              <a:t>14-04-2025</a:t>
            </a:r>
            <a:endParaRPr>
              <a:solidFill>
                <a:srgbClr val="FF33CC"/>
              </a:solidFill>
            </a:endParaRPr>
          </a:p>
        </p:txBody>
      </p:sp>
      <p:sp>
        <p:nvSpPr>
          <p:cNvPr id="136" name="Google Shape;136;p5"/>
          <p:cNvSpPr txBox="1"/>
          <p:nvPr>
            <p:ph idx="11" type="ftr"/>
          </p:nvPr>
        </p:nvSpPr>
        <p:spPr>
          <a:xfrm>
            <a:off x="3999271" y="6473622"/>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rgbClr val="FF33CC"/>
                </a:solidFill>
              </a:rPr>
              <a:t>VVIT @ Dept. CSM</a:t>
            </a:r>
            <a:endParaRPr/>
          </a:p>
        </p:txBody>
      </p:sp>
      <p:sp>
        <p:nvSpPr>
          <p:cNvPr id="137" name="Google Shape;137;p5"/>
          <p:cNvSpPr txBox="1"/>
          <p:nvPr>
            <p:ph idx="12" type="sldNum"/>
          </p:nvPr>
        </p:nvSpPr>
        <p:spPr>
          <a:xfrm>
            <a:off x="11488994" y="6478792"/>
            <a:ext cx="614516" cy="34725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rgbClr val="FF33CC"/>
                </a:solidFill>
              </a:rPr>
              <a:t>‹#›</a:t>
            </a:fld>
            <a:endParaRPr>
              <a:solidFill>
                <a:srgbClr val="FF33CC"/>
              </a:solidFill>
            </a:endParaRPr>
          </a:p>
        </p:txBody>
      </p:sp>
      <p:sp>
        <p:nvSpPr>
          <p:cNvPr id="138" name="Google Shape;138;p5"/>
          <p:cNvSpPr txBox="1"/>
          <p:nvPr/>
        </p:nvSpPr>
        <p:spPr>
          <a:xfrm>
            <a:off x="9019387" y="117032"/>
            <a:ext cx="310870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Team:BATCH7</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21BQ1A42I1,                         21BQ1A42F3,</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21BQ1A42D6,                        21BQ1A42I4</a:t>
            </a:r>
            <a:endParaRPr sz="1800">
              <a:solidFill>
                <a:schemeClr val="dk1"/>
              </a:solidFill>
              <a:latin typeface="Calibri"/>
              <a:ea typeface="Calibri"/>
              <a:cs typeface="Calibri"/>
              <a:sym typeface="Calibri"/>
            </a:endParaRPr>
          </a:p>
        </p:txBody>
      </p:sp>
      <p:sp>
        <p:nvSpPr>
          <p:cNvPr id="139" name="Google Shape;139;p5"/>
          <p:cNvSpPr/>
          <p:nvPr/>
        </p:nvSpPr>
        <p:spPr>
          <a:xfrm>
            <a:off x="1277972" y="1666106"/>
            <a:ext cx="7741415" cy="1631216"/>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IN" sz="2000" u="none" cap="none" strike="noStrike">
                <a:solidFill>
                  <a:schemeClr val="dk1"/>
                </a:solidFill>
                <a:latin typeface="Arial"/>
                <a:ea typeface="Arial"/>
                <a:cs typeface="Arial"/>
                <a:sym typeface="Arial"/>
              </a:rPr>
              <a:t>Election Results Display</a:t>
            </a:r>
            <a:endParaRPr b="0" i="0" sz="2000" u="none" cap="none" strike="noStrike">
              <a:solidFill>
                <a:schemeClr val="dk1"/>
              </a:solidFill>
              <a:latin typeface="Arial"/>
              <a:ea typeface="Arial"/>
              <a:cs typeface="Arial"/>
              <a:sym typeface="Arial"/>
            </a:endParaRPr>
          </a:p>
          <a:p>
            <a:pPr indent="-127000" lvl="0" marL="0" marR="0" rtl="0" algn="l">
              <a:lnSpc>
                <a:spcPct val="100000"/>
              </a:lnSpc>
              <a:spcBef>
                <a:spcPts val="0"/>
              </a:spcBef>
              <a:spcAft>
                <a:spcPts val="0"/>
              </a:spcAft>
              <a:buClr>
                <a:schemeClr val="dk1"/>
              </a:buClr>
              <a:buSzPts val="2000"/>
              <a:buFont typeface="Arial"/>
              <a:buChar char="•"/>
            </a:pPr>
            <a:r>
              <a:rPr b="0" i="0" lang="en-IN" sz="2000" u="none" cap="none" strike="noStrike">
                <a:solidFill>
                  <a:schemeClr val="dk1"/>
                </a:solidFill>
                <a:latin typeface="Arial"/>
                <a:ea typeface="Arial"/>
                <a:cs typeface="Arial"/>
                <a:sym typeface="Arial"/>
              </a:rPr>
              <a:t>Results are displayed </a:t>
            </a:r>
            <a:r>
              <a:rPr b="1" i="0" lang="en-IN" sz="2000" u="none" cap="none" strike="noStrike">
                <a:solidFill>
                  <a:schemeClr val="dk1"/>
                </a:solidFill>
                <a:latin typeface="Arial"/>
                <a:ea typeface="Arial"/>
                <a:cs typeface="Arial"/>
                <a:sym typeface="Arial"/>
              </a:rPr>
              <a:t>securely</a:t>
            </a:r>
            <a:r>
              <a:rPr b="0" i="0" lang="en-IN" sz="2000" u="none" cap="none" strike="noStrike">
                <a:solidFill>
                  <a:schemeClr val="dk1"/>
                </a:solidFill>
                <a:latin typeface="Arial"/>
                <a:ea typeface="Arial"/>
                <a:cs typeface="Arial"/>
                <a:sym typeface="Arial"/>
              </a:rPr>
              <a:t> after voting ends. </a:t>
            </a:r>
            <a:endParaRPr/>
          </a:p>
          <a:p>
            <a:pPr indent="-127000" lvl="0" marL="0" marR="0" rtl="0" algn="l">
              <a:lnSpc>
                <a:spcPct val="100000"/>
              </a:lnSpc>
              <a:spcBef>
                <a:spcPts val="0"/>
              </a:spcBef>
              <a:spcAft>
                <a:spcPts val="0"/>
              </a:spcAft>
              <a:buClr>
                <a:schemeClr val="dk1"/>
              </a:buClr>
              <a:buSzPts val="2000"/>
              <a:buFont typeface="Arial"/>
              <a:buChar char="•"/>
            </a:pPr>
            <a:r>
              <a:rPr b="0" i="0" lang="en-IN" sz="2000" u="none" cap="none" strike="noStrike">
                <a:solidFill>
                  <a:schemeClr val="dk1"/>
                </a:solidFill>
                <a:latin typeface="Arial"/>
                <a:ea typeface="Arial"/>
                <a:cs typeface="Arial"/>
                <a:sym typeface="Arial"/>
              </a:rPr>
              <a:t>The system offers an </a:t>
            </a:r>
            <a:r>
              <a:rPr b="1" i="0" lang="en-IN" sz="2000" u="none" cap="none" strike="noStrike">
                <a:solidFill>
                  <a:schemeClr val="dk1"/>
                </a:solidFill>
                <a:latin typeface="Arial"/>
                <a:ea typeface="Arial"/>
                <a:cs typeface="Arial"/>
                <a:sym typeface="Arial"/>
              </a:rPr>
              <a:t>overview</a:t>
            </a:r>
            <a:r>
              <a:rPr b="0" i="0" lang="en-IN" sz="2000" u="none" cap="none" strike="noStrike">
                <a:solidFill>
                  <a:schemeClr val="dk1"/>
                </a:solidFill>
                <a:latin typeface="Arial"/>
                <a:ea typeface="Arial"/>
                <a:cs typeface="Arial"/>
                <a:sym typeface="Arial"/>
              </a:rPr>
              <a:t> of voting trends and breakdowns. </a:t>
            </a:r>
            <a:endParaRPr/>
          </a:p>
          <a:p>
            <a:pPr indent="-127000" lvl="0" marL="0" marR="0" rtl="0" algn="l">
              <a:lnSpc>
                <a:spcPct val="100000"/>
              </a:lnSpc>
              <a:spcBef>
                <a:spcPts val="0"/>
              </a:spcBef>
              <a:spcAft>
                <a:spcPts val="0"/>
              </a:spcAft>
              <a:buClr>
                <a:schemeClr val="dk1"/>
              </a:buClr>
              <a:buSzPts val="2000"/>
              <a:buFont typeface="Arial"/>
              <a:buChar char="•"/>
            </a:pPr>
            <a:r>
              <a:rPr b="0" i="0" lang="en-IN" sz="2000" u="none" cap="none" strike="noStrike">
                <a:solidFill>
                  <a:schemeClr val="dk1"/>
                </a:solidFill>
                <a:latin typeface="Arial"/>
                <a:ea typeface="Arial"/>
                <a:cs typeface="Arial"/>
                <a:sym typeface="Arial"/>
              </a:rPr>
              <a:t>Enables </a:t>
            </a:r>
            <a:r>
              <a:rPr b="1" i="0" lang="en-IN" sz="2000" u="none" cap="none" strike="noStrike">
                <a:solidFill>
                  <a:schemeClr val="dk1"/>
                </a:solidFill>
                <a:latin typeface="Arial"/>
                <a:ea typeface="Arial"/>
                <a:cs typeface="Arial"/>
                <a:sym typeface="Arial"/>
              </a:rPr>
              <a:t>public transparency</a:t>
            </a:r>
            <a:r>
              <a:rPr b="0" i="0" lang="en-IN" sz="2000" u="none" cap="none" strike="noStrike">
                <a:solidFill>
                  <a:schemeClr val="dk1"/>
                </a:solidFill>
                <a:latin typeface="Arial"/>
                <a:ea typeface="Arial"/>
                <a:cs typeface="Arial"/>
                <a:sym typeface="Arial"/>
              </a:rPr>
              <a:t> of election outcomes. </a:t>
            </a:r>
            <a:endParaRPr/>
          </a:p>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p:txBody>
      </p:sp>
      <p:sp>
        <p:nvSpPr>
          <p:cNvPr id="140" name="Google Shape;140;p5"/>
          <p:cNvSpPr/>
          <p:nvPr/>
        </p:nvSpPr>
        <p:spPr>
          <a:xfrm>
            <a:off x="1123949" y="3560678"/>
            <a:ext cx="9944100" cy="193899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IN" sz="2000" u="none" cap="none" strike="noStrike">
                <a:solidFill>
                  <a:schemeClr val="dk1"/>
                </a:solidFill>
                <a:latin typeface="Arial"/>
                <a:ea typeface="Arial"/>
                <a:cs typeface="Arial"/>
                <a:sym typeface="Arial"/>
              </a:rPr>
              <a:t>Offline Functionality</a:t>
            </a:r>
            <a:endParaRPr b="0" i="0" sz="2000" u="none" cap="none" strike="noStrike">
              <a:solidFill>
                <a:schemeClr val="dk1"/>
              </a:solidFill>
              <a:latin typeface="Arial"/>
              <a:ea typeface="Arial"/>
              <a:cs typeface="Arial"/>
              <a:sym typeface="Arial"/>
            </a:endParaRPr>
          </a:p>
          <a:p>
            <a:pPr indent="-127000" lvl="0" marL="0" marR="0" rtl="0" algn="l">
              <a:lnSpc>
                <a:spcPct val="100000"/>
              </a:lnSpc>
              <a:spcBef>
                <a:spcPts val="0"/>
              </a:spcBef>
              <a:spcAft>
                <a:spcPts val="0"/>
              </a:spcAft>
              <a:buClr>
                <a:schemeClr val="dk1"/>
              </a:buClr>
              <a:buSzPts val="2000"/>
              <a:buFont typeface="Arial"/>
              <a:buChar char="•"/>
            </a:pPr>
            <a:r>
              <a:rPr b="0" i="0" lang="en-IN" sz="2000" u="none" cap="none" strike="noStrike">
                <a:solidFill>
                  <a:schemeClr val="dk1"/>
                </a:solidFill>
                <a:latin typeface="Arial"/>
                <a:ea typeface="Arial"/>
                <a:cs typeface="Arial"/>
                <a:sym typeface="Arial"/>
              </a:rPr>
              <a:t>Record votes and verify identity offline. </a:t>
            </a:r>
            <a:endParaRPr/>
          </a:p>
          <a:p>
            <a:pPr indent="-127000" lvl="0" marL="0" marR="0" rtl="0" algn="l">
              <a:lnSpc>
                <a:spcPct val="100000"/>
              </a:lnSpc>
              <a:spcBef>
                <a:spcPts val="0"/>
              </a:spcBef>
              <a:spcAft>
                <a:spcPts val="0"/>
              </a:spcAft>
              <a:buClr>
                <a:schemeClr val="dk1"/>
              </a:buClr>
              <a:buSzPts val="2000"/>
              <a:buFont typeface="Arial"/>
              <a:buChar char="•"/>
            </a:pPr>
            <a:r>
              <a:rPr b="0" i="0" lang="en-IN" sz="2000" u="none" cap="none" strike="noStrike">
                <a:solidFill>
                  <a:schemeClr val="dk1"/>
                </a:solidFill>
                <a:latin typeface="Arial"/>
                <a:ea typeface="Arial"/>
                <a:cs typeface="Arial"/>
                <a:sym typeface="Arial"/>
              </a:rPr>
              <a:t>Sync data to the blockchain and cloud once an internet connection is restored. </a:t>
            </a:r>
            <a:endParaRPr/>
          </a:p>
          <a:p>
            <a:pPr indent="-127000" lvl="0" marL="0" marR="0" rtl="0" algn="l">
              <a:lnSpc>
                <a:spcPct val="100000"/>
              </a:lnSpc>
              <a:spcBef>
                <a:spcPts val="0"/>
              </a:spcBef>
              <a:spcAft>
                <a:spcPts val="0"/>
              </a:spcAft>
              <a:buClr>
                <a:schemeClr val="dk1"/>
              </a:buClr>
              <a:buSzPts val="2000"/>
              <a:buFont typeface="Arial"/>
              <a:buChar char="•"/>
            </a:pPr>
            <a:r>
              <a:rPr b="0" i="0" lang="en-IN" sz="2000" u="none" cap="none" strike="noStrike">
                <a:solidFill>
                  <a:schemeClr val="dk1"/>
                </a:solidFill>
                <a:latin typeface="Arial"/>
                <a:ea typeface="Arial"/>
                <a:cs typeface="Arial"/>
                <a:sym typeface="Arial"/>
              </a:rPr>
              <a:t>Ensures uninterrupted voting and authentication, even in areas with poor internet access.</a:t>
            </a:r>
            <a:endParaRPr/>
          </a:p>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6"/>
          <p:cNvSpPr/>
          <p:nvPr/>
        </p:nvSpPr>
        <p:spPr>
          <a:xfrm>
            <a:off x="-1" y="-53980"/>
            <a:ext cx="12192000" cy="837398"/>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rgbClr val="FFFF00"/>
                </a:solidFill>
                <a:latin typeface="Times New Roman"/>
                <a:ea typeface="Times New Roman"/>
                <a:cs typeface="Times New Roman"/>
                <a:sym typeface="Times New Roman"/>
              </a:rPr>
              <a:t>                           Department of CSE-AI &amp; ML (CSM)</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 name="Google Shape;146;p6"/>
          <p:cNvSpPr/>
          <p:nvPr/>
        </p:nvSpPr>
        <p:spPr>
          <a:xfrm>
            <a:off x="0" y="6464710"/>
            <a:ext cx="12192000" cy="393289"/>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47" name="Google Shape;147;p6"/>
          <p:cNvPicPr preferRelativeResize="0"/>
          <p:nvPr/>
        </p:nvPicPr>
        <p:blipFill rotWithShape="1">
          <a:blip r:embed="rId3">
            <a:alphaModFix/>
          </a:blip>
          <a:srcRect b="0" l="0" r="0" t="0"/>
          <a:stretch/>
        </p:blipFill>
        <p:spPr>
          <a:xfrm>
            <a:off x="63911" y="-38004"/>
            <a:ext cx="3229896" cy="750273"/>
          </a:xfrm>
          <a:prstGeom prst="rect">
            <a:avLst/>
          </a:prstGeom>
          <a:noFill/>
          <a:ln>
            <a:noFill/>
          </a:ln>
        </p:spPr>
      </p:pic>
      <p:sp>
        <p:nvSpPr>
          <p:cNvPr id="148" name="Google Shape;148;p6"/>
          <p:cNvSpPr txBox="1"/>
          <p:nvPr>
            <p:ph idx="10" type="dt"/>
          </p:nvPr>
        </p:nvSpPr>
        <p:spPr>
          <a:xfrm>
            <a:off x="0" y="6460922"/>
            <a:ext cx="99797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rgbClr val="FF33CC"/>
                </a:solidFill>
              </a:rPr>
              <a:t>14-04-2025</a:t>
            </a:r>
            <a:endParaRPr>
              <a:solidFill>
                <a:srgbClr val="FF33CC"/>
              </a:solidFill>
            </a:endParaRPr>
          </a:p>
        </p:txBody>
      </p:sp>
      <p:sp>
        <p:nvSpPr>
          <p:cNvPr id="149" name="Google Shape;149;p6"/>
          <p:cNvSpPr txBox="1"/>
          <p:nvPr>
            <p:ph idx="11" type="ftr"/>
          </p:nvPr>
        </p:nvSpPr>
        <p:spPr>
          <a:xfrm>
            <a:off x="3999271" y="6473622"/>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rgbClr val="FF33CC"/>
                </a:solidFill>
              </a:rPr>
              <a:t>VVIT @ Dept. CSM</a:t>
            </a:r>
            <a:endParaRPr/>
          </a:p>
        </p:txBody>
      </p:sp>
      <p:sp>
        <p:nvSpPr>
          <p:cNvPr id="150" name="Google Shape;150;p6"/>
          <p:cNvSpPr txBox="1"/>
          <p:nvPr>
            <p:ph idx="12" type="sldNum"/>
          </p:nvPr>
        </p:nvSpPr>
        <p:spPr>
          <a:xfrm>
            <a:off x="11488994" y="6478792"/>
            <a:ext cx="614516" cy="34725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rgbClr val="FF33CC"/>
                </a:solidFill>
              </a:rPr>
              <a:t>‹#›</a:t>
            </a:fld>
            <a:endParaRPr>
              <a:solidFill>
                <a:srgbClr val="FF33CC"/>
              </a:solidFill>
            </a:endParaRPr>
          </a:p>
        </p:txBody>
      </p:sp>
      <p:sp>
        <p:nvSpPr>
          <p:cNvPr id="151" name="Google Shape;151;p6"/>
          <p:cNvSpPr txBox="1"/>
          <p:nvPr/>
        </p:nvSpPr>
        <p:spPr>
          <a:xfrm>
            <a:off x="9019387" y="117032"/>
            <a:ext cx="310870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Team:BATCH7</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21BQ1A42I1,                         21BQ1A42F3,</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21BQ1A42D6,                        21BQ1A42I4</a:t>
            </a:r>
            <a:endParaRPr sz="1800">
              <a:solidFill>
                <a:schemeClr val="dk1"/>
              </a:solidFill>
              <a:latin typeface="Calibri"/>
              <a:ea typeface="Calibri"/>
              <a:cs typeface="Calibri"/>
              <a:sym typeface="Calibri"/>
            </a:endParaRPr>
          </a:p>
        </p:txBody>
      </p:sp>
      <p:sp>
        <p:nvSpPr>
          <p:cNvPr id="152" name="Google Shape;152;p6"/>
          <p:cNvSpPr txBox="1"/>
          <p:nvPr/>
        </p:nvSpPr>
        <p:spPr>
          <a:xfrm>
            <a:off x="282388" y="954430"/>
            <a:ext cx="11456894" cy="5355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IN" sz="1800">
                <a:solidFill>
                  <a:schemeClr val="dk1"/>
                </a:solidFill>
                <a:latin typeface="Calibri"/>
                <a:ea typeface="Calibri"/>
                <a:cs typeface="Calibri"/>
                <a:sym typeface="Calibri"/>
              </a:rPr>
              <a:t>Software Requirements:</a:t>
            </a:r>
            <a:endParaRPr/>
          </a:p>
          <a:p>
            <a:pPr indent="0" lvl="0" marL="0" marR="0" rtl="0" algn="l">
              <a:spcBef>
                <a:spcPts val="0"/>
              </a:spcBef>
              <a:spcAft>
                <a:spcPts val="0"/>
              </a:spcAft>
              <a:buClr>
                <a:schemeClr val="dk1"/>
              </a:buClr>
              <a:buSzPts val="1800"/>
              <a:buFont typeface="Calibri"/>
              <a:buNone/>
            </a:pPr>
            <a:r>
              <a:rPr b="1" lang="en-IN" sz="1800" u="sng">
                <a:solidFill>
                  <a:schemeClr val="dk1"/>
                </a:solidFill>
                <a:latin typeface="Calibri"/>
                <a:ea typeface="Calibri"/>
                <a:cs typeface="Calibri"/>
                <a:sym typeface="Calibri"/>
              </a:rPr>
              <a:t>Frontend Development</a:t>
            </a:r>
            <a:endParaRPr sz="1800" u="sng">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UI Design</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Figma</a:t>
            </a:r>
            <a:r>
              <a:rPr lang="en-IN" sz="1800">
                <a:solidFill>
                  <a:schemeClr val="dk1"/>
                </a:solidFill>
                <a:latin typeface="Calibri"/>
                <a:ea typeface="Calibri"/>
                <a:cs typeface="Calibri"/>
                <a:sym typeface="Calibri"/>
              </a:rPr>
              <a:t> for designing the user interface.</a:t>
            </a:r>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Frontend Languages</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HTML</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CSS</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JavaScript</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Bootstrap</a:t>
            </a:r>
            <a:r>
              <a:rPr lang="en-IN" sz="1800">
                <a:solidFill>
                  <a:schemeClr val="dk1"/>
                </a:solidFill>
                <a:latin typeface="Calibri"/>
                <a:ea typeface="Calibri"/>
                <a:cs typeface="Calibri"/>
                <a:sym typeface="Calibri"/>
              </a:rPr>
              <a:t> for creating responsive, user-friendly web interfaces.</a:t>
            </a:r>
            <a:endParaRPr/>
          </a:p>
          <a:p>
            <a:pPr indent="0" lvl="0" marL="0" marR="0" rtl="0" algn="l">
              <a:spcBef>
                <a:spcPts val="0"/>
              </a:spcBef>
              <a:spcAft>
                <a:spcPts val="0"/>
              </a:spcAft>
              <a:buClr>
                <a:schemeClr val="dk1"/>
              </a:buClr>
              <a:buSzPts val="1800"/>
              <a:buFont typeface="Calibri"/>
              <a:buNone/>
            </a:pPr>
            <a:r>
              <a:rPr b="1" lang="en-IN" sz="1800" u="sng">
                <a:solidFill>
                  <a:schemeClr val="dk1"/>
                </a:solidFill>
                <a:latin typeface="Calibri"/>
                <a:ea typeface="Calibri"/>
                <a:cs typeface="Calibri"/>
                <a:sym typeface="Calibri"/>
              </a:rPr>
              <a:t>Backend Development</a:t>
            </a:r>
            <a:endParaRPr sz="1800" u="sng">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Programming Languages</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Python</a:t>
            </a:r>
            <a:r>
              <a:rPr lang="en-IN" sz="1800">
                <a:solidFill>
                  <a:schemeClr val="dk1"/>
                </a:solidFill>
                <a:latin typeface="Calibri"/>
                <a:ea typeface="Calibri"/>
                <a:cs typeface="Calibri"/>
                <a:sym typeface="Calibri"/>
              </a:rPr>
              <a:t> for backend logic and </a:t>
            </a:r>
            <a:r>
              <a:rPr b="1" lang="en-IN" sz="1800">
                <a:solidFill>
                  <a:schemeClr val="dk1"/>
                </a:solidFill>
                <a:latin typeface="Calibri"/>
                <a:ea typeface="Calibri"/>
                <a:cs typeface="Calibri"/>
                <a:sym typeface="Calibri"/>
              </a:rPr>
              <a:t>Django</a:t>
            </a:r>
            <a:r>
              <a:rPr lang="en-IN" sz="1800">
                <a:solidFill>
                  <a:schemeClr val="dk1"/>
                </a:solidFill>
                <a:latin typeface="Calibri"/>
                <a:ea typeface="Calibri"/>
                <a:cs typeface="Calibri"/>
                <a:sym typeface="Calibri"/>
              </a:rPr>
              <a:t> for web framework.</a:t>
            </a:r>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Blockchain Integration</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Solidity</a:t>
            </a:r>
            <a:r>
              <a:rPr lang="en-IN" sz="1800">
                <a:solidFill>
                  <a:schemeClr val="dk1"/>
                </a:solidFill>
                <a:latin typeface="Calibri"/>
                <a:ea typeface="Calibri"/>
                <a:cs typeface="Calibri"/>
                <a:sym typeface="Calibri"/>
              </a:rPr>
              <a:t> for smart contract development on Ethereum.</a:t>
            </a:r>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API Testing</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Postman</a:t>
            </a:r>
            <a:r>
              <a:rPr lang="en-IN" sz="1800">
                <a:solidFill>
                  <a:schemeClr val="dk1"/>
                </a:solidFill>
                <a:latin typeface="Calibri"/>
                <a:ea typeface="Calibri"/>
                <a:cs typeface="Calibri"/>
                <a:sym typeface="Calibri"/>
              </a:rPr>
              <a:t> for testing REST APIs.</a:t>
            </a:r>
            <a:endParaRPr/>
          </a:p>
          <a:p>
            <a:pPr indent="0" lvl="0" marL="0" marR="0" rtl="0" algn="l">
              <a:spcBef>
                <a:spcPts val="0"/>
              </a:spcBef>
              <a:spcAft>
                <a:spcPts val="0"/>
              </a:spcAft>
              <a:buClr>
                <a:schemeClr val="dk1"/>
              </a:buClr>
              <a:buSzPts val="1800"/>
              <a:buFont typeface="Calibri"/>
              <a:buNone/>
            </a:pPr>
            <a:r>
              <a:rPr b="1" lang="en-IN" sz="1800" u="sng">
                <a:solidFill>
                  <a:schemeClr val="dk1"/>
                </a:solidFill>
                <a:latin typeface="Calibri"/>
                <a:ea typeface="Calibri"/>
                <a:cs typeface="Calibri"/>
                <a:sym typeface="Calibri"/>
              </a:rPr>
              <a:t>Machine Learning &amp; Prediction</a:t>
            </a:r>
            <a:endParaRPr sz="1800" u="sng">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Machine Learning Algorithms</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Decision Tree</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Random Forest</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Logistic Regression</a:t>
            </a:r>
            <a:r>
              <a:rPr lang="en-IN" sz="1800">
                <a:solidFill>
                  <a:schemeClr val="dk1"/>
                </a:solidFill>
                <a:latin typeface="Calibri"/>
                <a:ea typeface="Calibri"/>
                <a:cs typeface="Calibri"/>
                <a:sym typeface="Calibri"/>
              </a:rPr>
              <a:t> for election prediction.</a:t>
            </a:r>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Machine Learning Libraries</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scikit-learn</a:t>
            </a:r>
            <a:r>
              <a:rPr lang="en-IN" sz="1800">
                <a:solidFill>
                  <a:schemeClr val="dk1"/>
                </a:solidFill>
                <a:latin typeface="Calibri"/>
                <a:ea typeface="Calibri"/>
                <a:cs typeface="Calibri"/>
                <a:sym typeface="Calibri"/>
              </a:rPr>
              <a:t> and </a:t>
            </a:r>
            <a:r>
              <a:rPr b="1" lang="en-IN" sz="1800">
                <a:solidFill>
                  <a:schemeClr val="dk1"/>
                </a:solidFill>
                <a:latin typeface="Calibri"/>
                <a:ea typeface="Calibri"/>
                <a:cs typeface="Calibri"/>
                <a:sym typeface="Calibri"/>
              </a:rPr>
              <a:t>TensorFlow</a:t>
            </a:r>
            <a:r>
              <a:rPr lang="en-IN" sz="1800">
                <a:solidFill>
                  <a:schemeClr val="dk1"/>
                </a:solidFill>
                <a:latin typeface="Calibri"/>
                <a:ea typeface="Calibri"/>
                <a:cs typeface="Calibri"/>
                <a:sym typeface="Calibri"/>
              </a:rPr>
              <a:t> for model training and prediction.</a:t>
            </a:r>
            <a:endParaRPr/>
          </a:p>
          <a:p>
            <a:pPr indent="0" lvl="0" marL="0" marR="0" rtl="0" algn="l">
              <a:spcBef>
                <a:spcPts val="0"/>
              </a:spcBef>
              <a:spcAft>
                <a:spcPts val="0"/>
              </a:spcAft>
              <a:buClr>
                <a:schemeClr val="dk1"/>
              </a:buClr>
              <a:buSzPts val="1800"/>
              <a:buFont typeface="Calibri"/>
              <a:buNone/>
            </a:pPr>
            <a:r>
              <a:rPr b="1" lang="en-IN" sz="1800" u="sng">
                <a:solidFill>
                  <a:schemeClr val="dk1"/>
                </a:solidFill>
                <a:latin typeface="Calibri"/>
                <a:ea typeface="Calibri"/>
                <a:cs typeface="Calibri"/>
                <a:sym typeface="Calibri"/>
              </a:rPr>
              <a:t>Authentication &amp; Security</a:t>
            </a:r>
            <a:endParaRPr sz="1800" u="sng">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Face Recognition</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Python Face Recognition Module</a:t>
            </a:r>
            <a:r>
              <a:rPr lang="en-IN" sz="1800">
                <a:solidFill>
                  <a:schemeClr val="dk1"/>
                </a:solidFill>
                <a:latin typeface="Calibri"/>
                <a:ea typeface="Calibri"/>
                <a:cs typeface="Calibri"/>
                <a:sym typeface="Calibri"/>
              </a:rPr>
              <a:t> for voter authentication.</a:t>
            </a:r>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Blockchain</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Ethereum</a:t>
            </a:r>
            <a:r>
              <a:rPr lang="en-IN" sz="1800">
                <a:solidFill>
                  <a:schemeClr val="dk1"/>
                </a:solidFill>
                <a:latin typeface="Calibri"/>
                <a:ea typeface="Calibri"/>
                <a:cs typeface="Calibri"/>
                <a:sym typeface="Calibri"/>
              </a:rPr>
              <a:t> and </a:t>
            </a:r>
            <a:r>
              <a:rPr b="1" lang="en-IN" sz="1800">
                <a:solidFill>
                  <a:schemeClr val="dk1"/>
                </a:solidFill>
                <a:latin typeface="Calibri"/>
                <a:ea typeface="Calibri"/>
                <a:cs typeface="Calibri"/>
                <a:sym typeface="Calibri"/>
              </a:rPr>
              <a:t>Ganache</a:t>
            </a:r>
            <a:r>
              <a:rPr lang="en-IN" sz="1800">
                <a:solidFill>
                  <a:schemeClr val="dk1"/>
                </a:solidFill>
                <a:latin typeface="Calibri"/>
                <a:ea typeface="Calibri"/>
                <a:cs typeface="Calibri"/>
                <a:sym typeface="Calibri"/>
              </a:rPr>
              <a:t> for secure vote recording and transaction management.</a:t>
            </a:r>
            <a:endParaRPr/>
          </a:p>
          <a:p>
            <a:pPr indent="0" lvl="0" marL="0" marR="0" rtl="0" algn="l">
              <a:spcBef>
                <a:spcPts val="0"/>
              </a:spcBef>
              <a:spcAft>
                <a:spcPts val="0"/>
              </a:spcAft>
              <a:buClr>
                <a:schemeClr val="dk1"/>
              </a:buClr>
              <a:buSzPts val="1800"/>
              <a:buFont typeface="Calibri"/>
              <a:buNone/>
            </a:pPr>
            <a:r>
              <a:rPr b="1" lang="en-IN" sz="1800" u="sng">
                <a:solidFill>
                  <a:schemeClr val="dk1"/>
                </a:solidFill>
                <a:latin typeface="Calibri"/>
                <a:ea typeface="Calibri"/>
                <a:cs typeface="Calibri"/>
                <a:sym typeface="Calibri"/>
              </a:rPr>
              <a:t>Deployment &amp; Hosting</a:t>
            </a:r>
            <a:endParaRPr sz="1800" u="sng">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Deployment</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AWS EC2</a:t>
            </a:r>
            <a:r>
              <a:rPr lang="en-IN" sz="1800">
                <a:solidFill>
                  <a:schemeClr val="dk1"/>
                </a:solidFill>
                <a:latin typeface="Calibri"/>
                <a:ea typeface="Calibri"/>
                <a:cs typeface="Calibri"/>
                <a:sym typeface="Calibri"/>
              </a:rPr>
              <a:t> for scalable cloud hosting.</a:t>
            </a:r>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Blockchain Deployment</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Infura</a:t>
            </a:r>
            <a:r>
              <a:rPr lang="en-IN" sz="1800">
                <a:solidFill>
                  <a:schemeClr val="dk1"/>
                </a:solidFill>
                <a:latin typeface="Calibri"/>
                <a:ea typeface="Calibri"/>
                <a:cs typeface="Calibri"/>
                <a:sym typeface="Calibri"/>
              </a:rPr>
              <a:t> or </a:t>
            </a:r>
            <a:r>
              <a:rPr b="1" lang="en-IN" sz="1800">
                <a:solidFill>
                  <a:schemeClr val="dk1"/>
                </a:solidFill>
                <a:latin typeface="Calibri"/>
                <a:ea typeface="Calibri"/>
                <a:cs typeface="Calibri"/>
                <a:sym typeface="Calibri"/>
              </a:rPr>
              <a:t>Alchemy</a:t>
            </a:r>
            <a:r>
              <a:rPr lang="en-IN" sz="1800">
                <a:solidFill>
                  <a:schemeClr val="dk1"/>
                </a:solidFill>
                <a:latin typeface="Calibri"/>
                <a:ea typeface="Calibri"/>
                <a:cs typeface="Calibri"/>
                <a:sym typeface="Calibri"/>
              </a:rPr>
              <a:t> for Ethereum network integration.</a:t>
            </a:r>
            <a:endParaRPr/>
          </a:p>
          <a:p>
            <a:pPr indent="0" lvl="0" marL="0" marR="0" rtl="0" algn="l">
              <a:spcBef>
                <a:spcPts val="0"/>
              </a:spcBef>
              <a:spcAft>
                <a:spcPts val="0"/>
              </a:spcAft>
              <a:buClr>
                <a:schemeClr val="dk1"/>
              </a:buClr>
              <a:buSzPts val="1800"/>
              <a:buFont typeface="Calibri"/>
              <a:buNone/>
            </a:pPr>
            <a:r>
              <a:rPr b="1" lang="en-IN" sz="1800" u="sng">
                <a:solidFill>
                  <a:schemeClr val="dk1"/>
                </a:solidFill>
                <a:latin typeface="Calibri"/>
                <a:ea typeface="Calibri"/>
                <a:cs typeface="Calibri"/>
                <a:sym typeface="Calibri"/>
              </a:rPr>
              <a:t>Database</a:t>
            </a:r>
            <a:endParaRPr sz="1800" u="sng">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Database Management</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SQLite</a:t>
            </a:r>
            <a:r>
              <a:rPr lang="en-IN" sz="1800">
                <a:solidFill>
                  <a:schemeClr val="dk1"/>
                </a:solidFill>
                <a:latin typeface="Calibri"/>
                <a:ea typeface="Calibri"/>
                <a:cs typeface="Calibri"/>
                <a:sym typeface="Calibri"/>
              </a:rPr>
              <a:t> for storing voter data and election-related information.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7"/>
          <p:cNvSpPr/>
          <p:nvPr/>
        </p:nvSpPr>
        <p:spPr>
          <a:xfrm>
            <a:off x="-1" y="-53980"/>
            <a:ext cx="12192000" cy="837398"/>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rgbClr val="FFFF00"/>
                </a:solidFill>
                <a:latin typeface="Times New Roman"/>
                <a:ea typeface="Times New Roman"/>
                <a:cs typeface="Times New Roman"/>
                <a:sym typeface="Times New Roman"/>
              </a:rPr>
              <a:t>                           Department of CSE-AI &amp; ML (CSM)</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 name="Google Shape;158;p7"/>
          <p:cNvSpPr/>
          <p:nvPr/>
        </p:nvSpPr>
        <p:spPr>
          <a:xfrm>
            <a:off x="0" y="6464710"/>
            <a:ext cx="12192000" cy="393289"/>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59" name="Google Shape;159;p7"/>
          <p:cNvPicPr preferRelativeResize="0"/>
          <p:nvPr/>
        </p:nvPicPr>
        <p:blipFill rotWithShape="1">
          <a:blip r:embed="rId3">
            <a:alphaModFix/>
          </a:blip>
          <a:srcRect b="0" l="0" r="0" t="0"/>
          <a:stretch/>
        </p:blipFill>
        <p:spPr>
          <a:xfrm>
            <a:off x="63911" y="-38004"/>
            <a:ext cx="3229896" cy="750273"/>
          </a:xfrm>
          <a:prstGeom prst="rect">
            <a:avLst/>
          </a:prstGeom>
          <a:noFill/>
          <a:ln>
            <a:noFill/>
          </a:ln>
        </p:spPr>
      </p:pic>
      <p:sp>
        <p:nvSpPr>
          <p:cNvPr id="160" name="Google Shape;160;p7"/>
          <p:cNvSpPr txBox="1"/>
          <p:nvPr>
            <p:ph idx="10" type="dt"/>
          </p:nvPr>
        </p:nvSpPr>
        <p:spPr>
          <a:xfrm>
            <a:off x="0" y="6460922"/>
            <a:ext cx="99797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rgbClr val="FF33CC"/>
                </a:solidFill>
              </a:rPr>
              <a:t>14-04-2025</a:t>
            </a:r>
            <a:endParaRPr>
              <a:solidFill>
                <a:srgbClr val="FF33CC"/>
              </a:solidFill>
            </a:endParaRPr>
          </a:p>
        </p:txBody>
      </p:sp>
      <p:sp>
        <p:nvSpPr>
          <p:cNvPr id="161" name="Google Shape;161;p7"/>
          <p:cNvSpPr txBox="1"/>
          <p:nvPr>
            <p:ph idx="11" type="ftr"/>
          </p:nvPr>
        </p:nvSpPr>
        <p:spPr>
          <a:xfrm>
            <a:off x="3999271" y="6473622"/>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rgbClr val="FF33CC"/>
                </a:solidFill>
              </a:rPr>
              <a:t>VVIT @ Dept. CSM</a:t>
            </a:r>
            <a:endParaRPr/>
          </a:p>
        </p:txBody>
      </p:sp>
      <p:sp>
        <p:nvSpPr>
          <p:cNvPr id="162" name="Google Shape;162;p7"/>
          <p:cNvSpPr txBox="1"/>
          <p:nvPr>
            <p:ph idx="12" type="sldNum"/>
          </p:nvPr>
        </p:nvSpPr>
        <p:spPr>
          <a:xfrm>
            <a:off x="11488994" y="6478792"/>
            <a:ext cx="614516" cy="34725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rgbClr val="FF33CC"/>
                </a:solidFill>
              </a:rPr>
              <a:t>‹#›</a:t>
            </a:fld>
            <a:endParaRPr>
              <a:solidFill>
                <a:srgbClr val="FF33CC"/>
              </a:solidFill>
            </a:endParaRPr>
          </a:p>
        </p:txBody>
      </p:sp>
      <p:sp>
        <p:nvSpPr>
          <p:cNvPr id="163" name="Google Shape;163;p7"/>
          <p:cNvSpPr txBox="1"/>
          <p:nvPr/>
        </p:nvSpPr>
        <p:spPr>
          <a:xfrm>
            <a:off x="9019387" y="117032"/>
            <a:ext cx="310870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Team:BATCH7</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21BQ1A42I1,                         21BQ5A42F3,</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21BQ1A42D6,                        21BQ5A42I4</a:t>
            </a:r>
            <a:endParaRPr sz="1800">
              <a:solidFill>
                <a:schemeClr val="dk1"/>
              </a:solidFill>
              <a:latin typeface="Calibri"/>
              <a:ea typeface="Calibri"/>
              <a:cs typeface="Calibri"/>
              <a:sym typeface="Calibri"/>
            </a:endParaRPr>
          </a:p>
        </p:txBody>
      </p:sp>
      <p:sp>
        <p:nvSpPr>
          <p:cNvPr id="164" name="Google Shape;164;p7"/>
          <p:cNvSpPr txBox="1"/>
          <p:nvPr/>
        </p:nvSpPr>
        <p:spPr>
          <a:xfrm>
            <a:off x="879288" y="1157630"/>
            <a:ext cx="9166412"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IN" sz="1800">
                <a:solidFill>
                  <a:schemeClr val="dk1"/>
                </a:solidFill>
                <a:latin typeface="Calibri"/>
                <a:ea typeface="Calibri"/>
                <a:cs typeface="Calibri"/>
                <a:sym typeface="Calibri"/>
              </a:rPr>
              <a:t>Hardware Requirements:</a:t>
            </a:r>
            <a:endParaRPr/>
          </a:p>
          <a:p>
            <a:pPr indent="0" lvl="0" marL="0" marR="0" rtl="0" algn="l">
              <a:spcBef>
                <a:spcPts val="0"/>
              </a:spcBef>
              <a:spcAft>
                <a:spcPts val="0"/>
              </a:spcAft>
              <a:buNone/>
            </a:pPr>
            <a:r>
              <a:t/>
            </a:r>
            <a:endParaRPr b="1" i="1"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rPr b="1" lang="en-IN" sz="1800">
                <a:solidFill>
                  <a:schemeClr val="dk1"/>
                </a:solidFill>
                <a:latin typeface="Calibri"/>
                <a:ea typeface="Calibri"/>
                <a:cs typeface="Calibri"/>
                <a:sym typeface="Calibri"/>
              </a:rPr>
              <a:t>Operating System</a:t>
            </a:r>
            <a:endParaRPr sz="18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OS</a:t>
            </a:r>
            <a:r>
              <a:rPr lang="en-IN" sz="1800">
                <a:solidFill>
                  <a:schemeClr val="dk1"/>
                </a:solidFill>
                <a:latin typeface="Calibri"/>
                <a:ea typeface="Calibri"/>
                <a:cs typeface="Calibri"/>
                <a:sym typeface="Calibri"/>
              </a:rPr>
              <a:t>: Windows/Linux for backend deployment or </a:t>
            </a:r>
            <a:r>
              <a:rPr b="1" lang="en-IN" sz="1800">
                <a:solidFill>
                  <a:schemeClr val="dk1"/>
                </a:solidFill>
                <a:latin typeface="Calibri"/>
                <a:ea typeface="Calibri"/>
                <a:cs typeface="Calibri"/>
                <a:sym typeface="Calibri"/>
              </a:rPr>
              <a:t>macOS</a:t>
            </a:r>
            <a:r>
              <a:rPr lang="en-IN" sz="1800">
                <a:solidFill>
                  <a:schemeClr val="dk1"/>
                </a:solidFill>
                <a:latin typeface="Calibri"/>
                <a:ea typeface="Calibri"/>
                <a:cs typeface="Calibri"/>
                <a:sym typeface="Calibri"/>
              </a:rPr>
              <a:t> for frontend development.</a:t>
            </a:r>
            <a:endParaRPr/>
          </a:p>
          <a:p>
            <a:pPr indent="0" lvl="0" marL="0" marR="0" rtl="0" algn="l">
              <a:spcBef>
                <a:spcPts val="0"/>
              </a:spcBef>
              <a:spcAft>
                <a:spcPts val="0"/>
              </a:spcAft>
              <a:buClr>
                <a:schemeClr val="dk1"/>
              </a:buClr>
              <a:buSzPts val="1800"/>
              <a:buFont typeface="Calibri"/>
              <a:buNone/>
            </a:pPr>
            <a:r>
              <a:rPr b="1" lang="en-IN" sz="1800">
                <a:solidFill>
                  <a:schemeClr val="dk1"/>
                </a:solidFill>
                <a:latin typeface="Calibri"/>
                <a:ea typeface="Calibri"/>
                <a:cs typeface="Calibri"/>
                <a:sym typeface="Calibri"/>
              </a:rPr>
              <a:t>Hardware Specifications</a:t>
            </a:r>
            <a:endParaRPr sz="18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RAM</a:t>
            </a:r>
            <a:r>
              <a:rPr lang="en-IN" sz="1800">
                <a:solidFill>
                  <a:schemeClr val="dk1"/>
                </a:solidFill>
                <a:latin typeface="Calibri"/>
                <a:ea typeface="Calibri"/>
                <a:cs typeface="Calibri"/>
                <a:sym typeface="Calibri"/>
              </a:rPr>
              <a:t>: Minimum of </a:t>
            </a:r>
            <a:r>
              <a:rPr b="1" lang="en-IN" sz="1800">
                <a:solidFill>
                  <a:schemeClr val="dk1"/>
                </a:solidFill>
                <a:latin typeface="Calibri"/>
                <a:ea typeface="Calibri"/>
                <a:cs typeface="Calibri"/>
                <a:sym typeface="Calibri"/>
              </a:rPr>
              <a:t>4GB</a:t>
            </a:r>
            <a:r>
              <a:rPr lang="en-IN" sz="1800">
                <a:solidFill>
                  <a:schemeClr val="dk1"/>
                </a:solidFill>
                <a:latin typeface="Calibri"/>
                <a:ea typeface="Calibri"/>
                <a:cs typeface="Calibri"/>
                <a:sym typeface="Calibri"/>
              </a:rPr>
              <a:t> for smooth application operation.</a:t>
            </a:r>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Storage</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500GB HDD</a:t>
            </a:r>
            <a:r>
              <a:rPr lang="en-IN" sz="1800">
                <a:solidFill>
                  <a:schemeClr val="dk1"/>
                </a:solidFill>
                <a:latin typeface="Calibri"/>
                <a:ea typeface="Calibri"/>
                <a:cs typeface="Calibri"/>
                <a:sym typeface="Calibri"/>
              </a:rPr>
              <a:t> or </a:t>
            </a:r>
            <a:r>
              <a:rPr b="1" lang="en-IN" sz="1800">
                <a:solidFill>
                  <a:schemeClr val="dk1"/>
                </a:solidFill>
                <a:latin typeface="Calibri"/>
                <a:ea typeface="Calibri"/>
                <a:cs typeface="Calibri"/>
                <a:sym typeface="Calibri"/>
              </a:rPr>
              <a:t>SSD</a:t>
            </a:r>
            <a:r>
              <a:rPr lang="en-IN" sz="1800">
                <a:solidFill>
                  <a:schemeClr val="dk1"/>
                </a:solidFill>
                <a:latin typeface="Calibri"/>
                <a:ea typeface="Calibri"/>
                <a:cs typeface="Calibri"/>
                <a:sym typeface="Calibri"/>
              </a:rPr>
              <a:t> for data storage and blockchain management.</a:t>
            </a:r>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Graphic Card</a:t>
            </a:r>
            <a:r>
              <a:rPr lang="en-IN" sz="1800">
                <a:solidFill>
                  <a:schemeClr val="dk1"/>
                </a:solidFill>
                <a:latin typeface="Calibri"/>
                <a:ea typeface="Calibri"/>
                <a:cs typeface="Calibri"/>
                <a:sym typeface="Calibri"/>
              </a:rPr>
              <a:t>: Not mandatory, but </a:t>
            </a:r>
            <a:r>
              <a:rPr b="1" lang="en-IN" sz="1800">
                <a:solidFill>
                  <a:schemeClr val="dk1"/>
                </a:solidFill>
                <a:latin typeface="Calibri"/>
                <a:ea typeface="Calibri"/>
                <a:cs typeface="Calibri"/>
                <a:sym typeface="Calibri"/>
              </a:rPr>
              <a:t>1GB</a:t>
            </a:r>
            <a:r>
              <a:rPr lang="en-IN" sz="1800">
                <a:solidFill>
                  <a:schemeClr val="dk1"/>
                </a:solidFill>
                <a:latin typeface="Calibri"/>
                <a:ea typeface="Calibri"/>
                <a:cs typeface="Calibri"/>
                <a:sym typeface="Calibri"/>
              </a:rPr>
              <a:t> of VRAM may be useful for development or machine learning model training.</a:t>
            </a:r>
            <a:endParaRPr/>
          </a:p>
          <a:p>
            <a:pPr indent="0" lvl="0" marL="0" marR="0" rtl="0" algn="l">
              <a:spcBef>
                <a:spcPts val="0"/>
              </a:spcBef>
              <a:spcAft>
                <a:spcPts val="0"/>
              </a:spcAft>
              <a:buClr>
                <a:schemeClr val="dk1"/>
              </a:buClr>
              <a:buSzPts val="1800"/>
              <a:buFont typeface="Calibri"/>
              <a:buNone/>
            </a:pPr>
            <a:r>
              <a:rPr b="1" lang="en-IN" sz="1800">
                <a:solidFill>
                  <a:schemeClr val="dk1"/>
                </a:solidFill>
                <a:latin typeface="Calibri"/>
                <a:ea typeface="Calibri"/>
                <a:cs typeface="Calibri"/>
                <a:sym typeface="Calibri"/>
              </a:rPr>
              <a:t>Networking</a:t>
            </a:r>
            <a:endParaRPr sz="18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Network Bandwidth</a:t>
            </a:r>
            <a:r>
              <a:rPr lang="en-IN" sz="1800">
                <a:solidFill>
                  <a:schemeClr val="dk1"/>
                </a:solidFill>
                <a:latin typeface="Calibri"/>
                <a:ea typeface="Calibri"/>
                <a:cs typeface="Calibri"/>
                <a:sym typeface="Calibri"/>
              </a:rPr>
              <a:t>: Minimum </a:t>
            </a:r>
            <a:r>
              <a:rPr b="1" lang="en-IN" sz="1800">
                <a:solidFill>
                  <a:schemeClr val="dk1"/>
                </a:solidFill>
                <a:latin typeface="Calibri"/>
                <a:ea typeface="Calibri"/>
                <a:cs typeface="Calibri"/>
                <a:sym typeface="Calibri"/>
              </a:rPr>
              <a:t>5Mbps</a:t>
            </a:r>
            <a:r>
              <a:rPr lang="en-IN" sz="1800">
                <a:solidFill>
                  <a:schemeClr val="dk1"/>
                </a:solidFill>
                <a:latin typeface="Calibri"/>
                <a:ea typeface="Calibri"/>
                <a:cs typeface="Calibri"/>
                <a:sym typeface="Calibri"/>
              </a:rPr>
              <a:t> for smooth data fetching from the cloud and real-time updates.</a:t>
            </a:r>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Internet</a:t>
            </a:r>
            <a:r>
              <a:rPr lang="en-IN" sz="1800">
                <a:solidFill>
                  <a:schemeClr val="dk1"/>
                </a:solidFill>
                <a:latin typeface="Calibri"/>
                <a:ea typeface="Calibri"/>
                <a:cs typeface="Calibri"/>
                <a:sym typeface="Calibri"/>
              </a:rPr>
              <a:t>: Stable internet connection for uninterrupted communication with the blockchain and machine learning models.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8"/>
          <p:cNvSpPr/>
          <p:nvPr/>
        </p:nvSpPr>
        <p:spPr>
          <a:xfrm>
            <a:off x="-1" y="-53980"/>
            <a:ext cx="12192000" cy="837398"/>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rgbClr val="FFFF00"/>
                </a:solidFill>
                <a:latin typeface="Times New Roman"/>
                <a:ea typeface="Times New Roman"/>
                <a:cs typeface="Times New Roman"/>
                <a:sym typeface="Times New Roman"/>
              </a:rPr>
              <a:t>                           Department of CSE-AI &amp; ML (CSM)</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 name="Google Shape;170;p8"/>
          <p:cNvSpPr/>
          <p:nvPr/>
        </p:nvSpPr>
        <p:spPr>
          <a:xfrm>
            <a:off x="0" y="6464710"/>
            <a:ext cx="12192000" cy="393289"/>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71" name="Google Shape;171;p8"/>
          <p:cNvPicPr preferRelativeResize="0"/>
          <p:nvPr/>
        </p:nvPicPr>
        <p:blipFill rotWithShape="1">
          <a:blip r:embed="rId3">
            <a:alphaModFix/>
          </a:blip>
          <a:srcRect b="0" l="0" r="0" t="0"/>
          <a:stretch/>
        </p:blipFill>
        <p:spPr>
          <a:xfrm>
            <a:off x="63911" y="-38004"/>
            <a:ext cx="3229896" cy="750273"/>
          </a:xfrm>
          <a:prstGeom prst="rect">
            <a:avLst/>
          </a:prstGeom>
          <a:noFill/>
          <a:ln>
            <a:noFill/>
          </a:ln>
        </p:spPr>
      </p:pic>
      <p:sp>
        <p:nvSpPr>
          <p:cNvPr id="172" name="Google Shape;172;p8"/>
          <p:cNvSpPr txBox="1"/>
          <p:nvPr>
            <p:ph idx="10" type="dt"/>
          </p:nvPr>
        </p:nvSpPr>
        <p:spPr>
          <a:xfrm>
            <a:off x="0" y="6460922"/>
            <a:ext cx="99797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rgbClr val="FF33CC"/>
                </a:solidFill>
              </a:rPr>
              <a:t>14-04-2025</a:t>
            </a:r>
            <a:endParaRPr>
              <a:solidFill>
                <a:srgbClr val="FF33CC"/>
              </a:solidFill>
            </a:endParaRPr>
          </a:p>
        </p:txBody>
      </p:sp>
      <p:sp>
        <p:nvSpPr>
          <p:cNvPr id="173" name="Google Shape;173;p8"/>
          <p:cNvSpPr txBox="1"/>
          <p:nvPr>
            <p:ph idx="11" type="ftr"/>
          </p:nvPr>
        </p:nvSpPr>
        <p:spPr>
          <a:xfrm>
            <a:off x="3999271" y="6473622"/>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rgbClr val="FF33CC"/>
                </a:solidFill>
              </a:rPr>
              <a:t>VVIT @ Dept. CSM</a:t>
            </a:r>
            <a:endParaRPr/>
          </a:p>
        </p:txBody>
      </p:sp>
      <p:sp>
        <p:nvSpPr>
          <p:cNvPr id="174" name="Google Shape;174;p8"/>
          <p:cNvSpPr txBox="1"/>
          <p:nvPr>
            <p:ph idx="12" type="sldNum"/>
          </p:nvPr>
        </p:nvSpPr>
        <p:spPr>
          <a:xfrm>
            <a:off x="11488994" y="6478792"/>
            <a:ext cx="614516" cy="34725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rgbClr val="FF33CC"/>
                </a:solidFill>
              </a:rPr>
              <a:t>‹#›</a:t>
            </a:fld>
            <a:endParaRPr>
              <a:solidFill>
                <a:srgbClr val="FF33CC"/>
              </a:solidFill>
            </a:endParaRPr>
          </a:p>
        </p:txBody>
      </p:sp>
      <p:sp>
        <p:nvSpPr>
          <p:cNvPr id="175" name="Google Shape;175;p8"/>
          <p:cNvSpPr txBox="1"/>
          <p:nvPr/>
        </p:nvSpPr>
        <p:spPr>
          <a:xfrm>
            <a:off x="9019387" y="117032"/>
            <a:ext cx="310870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Team:BATCH7</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21BQ1A42I1,                         21BQ1A42F3,</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21BQ1A42D6,                        21BQ1A42I4</a:t>
            </a:r>
            <a:endParaRPr sz="1800">
              <a:solidFill>
                <a:schemeClr val="dk1"/>
              </a:solidFill>
              <a:latin typeface="Calibri"/>
              <a:ea typeface="Calibri"/>
              <a:cs typeface="Calibri"/>
              <a:sym typeface="Calibri"/>
            </a:endParaRPr>
          </a:p>
        </p:txBody>
      </p:sp>
      <p:sp>
        <p:nvSpPr>
          <p:cNvPr id="176" name="Google Shape;176;p8"/>
          <p:cNvSpPr txBox="1"/>
          <p:nvPr/>
        </p:nvSpPr>
        <p:spPr>
          <a:xfrm>
            <a:off x="282388" y="954430"/>
            <a:ext cx="11456894" cy="53860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800">
                <a:solidFill>
                  <a:schemeClr val="dk1"/>
                </a:solidFill>
                <a:latin typeface="Calibri"/>
                <a:ea typeface="Calibri"/>
                <a:cs typeface="Calibri"/>
                <a:sym typeface="Calibri"/>
              </a:rPr>
              <a:t>Results:</a:t>
            </a:r>
            <a:endParaRPr/>
          </a:p>
          <a:p>
            <a:pPr indent="0" lvl="0" marL="0" marR="0" rtl="0" algn="l">
              <a:spcBef>
                <a:spcPts val="0"/>
              </a:spcBef>
              <a:spcAft>
                <a:spcPts val="0"/>
              </a:spcAft>
              <a:buNone/>
            </a:pPr>
            <a:r>
              <a:t/>
            </a:r>
            <a:endParaRPr b="1" sz="2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1800"/>
              <a:buFont typeface="Calibri"/>
              <a:buNone/>
            </a:pPr>
            <a:r>
              <a:rPr lang="en-IN" sz="1800">
                <a:solidFill>
                  <a:schemeClr val="dk1"/>
                </a:solidFill>
                <a:latin typeface="Calibri"/>
                <a:ea typeface="Calibri"/>
                <a:cs typeface="Calibri"/>
                <a:sym typeface="Calibri"/>
              </a:rPr>
              <a:t>The </a:t>
            </a:r>
            <a:r>
              <a:rPr b="1" lang="en-IN" sz="1800">
                <a:solidFill>
                  <a:schemeClr val="dk1"/>
                </a:solidFill>
                <a:latin typeface="Calibri"/>
                <a:ea typeface="Calibri"/>
                <a:cs typeface="Calibri"/>
                <a:sym typeface="Calibri"/>
              </a:rPr>
              <a:t>Online Voting System Using Blockchain with Ethereum and Machine Learning</a:t>
            </a:r>
            <a:r>
              <a:rPr lang="en-IN" sz="1800">
                <a:solidFill>
                  <a:schemeClr val="dk1"/>
                </a:solidFill>
                <a:latin typeface="Calibri"/>
                <a:ea typeface="Calibri"/>
                <a:cs typeface="Calibri"/>
                <a:sym typeface="Calibri"/>
              </a:rPr>
              <a:t> has been successfully implemented with a focus on ensuring a secure, transparent, and efficient election process. By leveraging </a:t>
            </a:r>
            <a:r>
              <a:rPr b="1" lang="en-IN" sz="1800">
                <a:solidFill>
                  <a:schemeClr val="dk1"/>
                </a:solidFill>
                <a:latin typeface="Calibri"/>
                <a:ea typeface="Calibri"/>
                <a:cs typeface="Calibri"/>
                <a:sym typeface="Calibri"/>
              </a:rPr>
              <a:t>Ethereum blockchain</a:t>
            </a:r>
            <a:r>
              <a:rPr lang="en-IN" sz="1800">
                <a:solidFill>
                  <a:schemeClr val="dk1"/>
                </a:solidFill>
                <a:latin typeface="Calibri"/>
                <a:ea typeface="Calibri"/>
                <a:cs typeface="Calibri"/>
                <a:sym typeface="Calibri"/>
              </a:rPr>
              <a:t>, the system guarantees </a:t>
            </a:r>
            <a:r>
              <a:rPr b="1" lang="en-IN" sz="1800">
                <a:solidFill>
                  <a:schemeClr val="dk1"/>
                </a:solidFill>
                <a:latin typeface="Calibri"/>
                <a:ea typeface="Calibri"/>
                <a:cs typeface="Calibri"/>
                <a:sym typeface="Calibri"/>
              </a:rPr>
              <a:t>immutable vote recording</a:t>
            </a:r>
            <a:r>
              <a:rPr lang="en-IN" sz="1800">
                <a:solidFill>
                  <a:schemeClr val="dk1"/>
                </a:solidFill>
                <a:latin typeface="Calibri"/>
                <a:ea typeface="Calibri"/>
                <a:cs typeface="Calibri"/>
                <a:sym typeface="Calibri"/>
              </a:rPr>
              <a:t>, ensuring transparency and preventing manipulation. </a:t>
            </a:r>
            <a:r>
              <a:rPr b="1" lang="en-IN" sz="1800">
                <a:solidFill>
                  <a:schemeClr val="dk1"/>
                </a:solidFill>
                <a:latin typeface="Calibri"/>
                <a:ea typeface="Calibri"/>
                <a:cs typeface="Calibri"/>
                <a:sym typeface="Calibri"/>
              </a:rPr>
              <a:t>Face recognition</a:t>
            </a:r>
            <a:r>
              <a:rPr lang="en-IN" sz="1800">
                <a:solidFill>
                  <a:schemeClr val="dk1"/>
                </a:solidFill>
                <a:latin typeface="Calibri"/>
                <a:ea typeface="Calibri"/>
                <a:cs typeface="Calibri"/>
                <a:sym typeface="Calibri"/>
              </a:rPr>
              <a:t> technology secures voter authentication, ensuring that only registered voters can cast their votes.</a:t>
            </a:r>
            <a:endParaRPr/>
          </a:p>
          <a:p>
            <a:pPr indent="0" lvl="0" marL="0" marR="0" rtl="0" algn="just">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1800"/>
              <a:buFont typeface="Calibri"/>
              <a:buNone/>
            </a:pPr>
            <a:r>
              <a:rPr lang="en-IN" sz="1800">
                <a:solidFill>
                  <a:schemeClr val="dk1"/>
                </a:solidFill>
                <a:latin typeface="Calibri"/>
                <a:ea typeface="Calibri"/>
                <a:cs typeface="Calibri"/>
                <a:sym typeface="Calibri"/>
              </a:rPr>
              <a:t>The system is capable of </a:t>
            </a:r>
            <a:r>
              <a:rPr b="1" lang="en-IN" sz="1800">
                <a:solidFill>
                  <a:schemeClr val="dk1"/>
                </a:solidFill>
                <a:latin typeface="Calibri"/>
                <a:ea typeface="Calibri"/>
                <a:cs typeface="Calibri"/>
                <a:sym typeface="Calibri"/>
              </a:rPr>
              <a:t>predicting election outcomes</a:t>
            </a:r>
            <a:r>
              <a:rPr lang="en-IN" sz="1800">
                <a:solidFill>
                  <a:schemeClr val="dk1"/>
                </a:solidFill>
                <a:latin typeface="Calibri"/>
                <a:ea typeface="Calibri"/>
                <a:cs typeface="Calibri"/>
                <a:sym typeface="Calibri"/>
              </a:rPr>
              <a:t> using machine learning algorithms like </a:t>
            </a:r>
            <a:r>
              <a:rPr b="1" lang="en-IN" sz="1800">
                <a:solidFill>
                  <a:schemeClr val="dk1"/>
                </a:solidFill>
                <a:latin typeface="Calibri"/>
                <a:ea typeface="Calibri"/>
                <a:cs typeface="Calibri"/>
                <a:sym typeface="Calibri"/>
              </a:rPr>
              <a:t>Decision Tree</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Random Forest</a:t>
            </a:r>
            <a:r>
              <a:rPr lang="en-IN" sz="1800">
                <a:solidFill>
                  <a:schemeClr val="dk1"/>
                </a:solidFill>
                <a:latin typeface="Calibri"/>
                <a:ea typeface="Calibri"/>
                <a:cs typeface="Calibri"/>
                <a:sym typeface="Calibri"/>
              </a:rPr>
              <a:t>, and </a:t>
            </a:r>
            <a:r>
              <a:rPr b="1" lang="en-IN" sz="1800">
                <a:solidFill>
                  <a:schemeClr val="dk1"/>
                </a:solidFill>
                <a:latin typeface="Calibri"/>
                <a:ea typeface="Calibri"/>
                <a:cs typeface="Calibri"/>
                <a:sym typeface="Calibri"/>
              </a:rPr>
              <a:t>Logistic Regression</a:t>
            </a:r>
            <a:r>
              <a:rPr lang="en-IN" sz="1800">
                <a:solidFill>
                  <a:schemeClr val="dk1"/>
                </a:solidFill>
                <a:latin typeface="Calibri"/>
                <a:ea typeface="Calibri"/>
                <a:cs typeface="Calibri"/>
                <a:sym typeface="Calibri"/>
              </a:rPr>
              <a:t>, providing valuable insights into voting trends and election results. </a:t>
            </a:r>
            <a:r>
              <a:rPr b="1" lang="en-IN" sz="1800">
                <a:solidFill>
                  <a:schemeClr val="dk1"/>
                </a:solidFill>
                <a:latin typeface="Calibri"/>
                <a:ea typeface="Calibri"/>
                <a:cs typeface="Calibri"/>
                <a:sym typeface="Calibri"/>
              </a:rPr>
              <a:t>Votes are securely recorded on the blockchain</a:t>
            </a:r>
            <a:r>
              <a:rPr lang="en-IN" sz="1800">
                <a:solidFill>
                  <a:schemeClr val="dk1"/>
                </a:solidFill>
                <a:latin typeface="Calibri"/>
                <a:ea typeface="Calibri"/>
                <a:cs typeface="Calibri"/>
                <a:sym typeface="Calibri"/>
              </a:rPr>
              <a:t>, preventing tampering and ensuring the integrity of the election process.</a:t>
            </a:r>
            <a:endParaRPr/>
          </a:p>
          <a:p>
            <a:pPr indent="0" lvl="0" marL="0" marR="0" rtl="0" algn="just">
              <a:spcBef>
                <a:spcPts val="0"/>
              </a:spcBef>
              <a:spcAft>
                <a:spcPts val="0"/>
              </a:spcAft>
              <a:buClr>
                <a:schemeClr val="dk1"/>
              </a:buClr>
              <a:buSzPts val="1800"/>
              <a:buFont typeface="Calibri"/>
              <a:buNone/>
            </a:pPr>
            <a:r>
              <a:rPr lang="en-IN" sz="1800">
                <a:solidFill>
                  <a:schemeClr val="dk1"/>
                </a:solidFill>
                <a:latin typeface="Calibri"/>
                <a:ea typeface="Calibri"/>
                <a:cs typeface="Calibri"/>
                <a:sym typeface="Calibri"/>
              </a:rPr>
              <a:t>Key features include </a:t>
            </a:r>
            <a:r>
              <a:rPr b="1" lang="en-IN" sz="1800">
                <a:solidFill>
                  <a:schemeClr val="dk1"/>
                </a:solidFill>
                <a:latin typeface="Calibri"/>
                <a:ea typeface="Calibri"/>
                <a:cs typeface="Calibri"/>
                <a:sym typeface="Calibri"/>
              </a:rPr>
              <a:t>real-time election result predictions</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secure voting</a:t>
            </a:r>
            <a:r>
              <a:rPr lang="en-IN" sz="1800">
                <a:solidFill>
                  <a:schemeClr val="dk1"/>
                </a:solidFill>
                <a:latin typeface="Calibri"/>
                <a:ea typeface="Calibri"/>
                <a:cs typeface="Calibri"/>
                <a:sym typeface="Calibri"/>
              </a:rPr>
              <a:t> with </a:t>
            </a:r>
            <a:r>
              <a:rPr b="1" lang="en-IN" sz="1800">
                <a:solidFill>
                  <a:schemeClr val="dk1"/>
                </a:solidFill>
                <a:latin typeface="Calibri"/>
                <a:ea typeface="Calibri"/>
                <a:cs typeface="Calibri"/>
                <a:sym typeface="Calibri"/>
              </a:rPr>
              <a:t>immutable blockchain storage</a:t>
            </a:r>
            <a:r>
              <a:rPr lang="en-IN" sz="1800">
                <a:solidFill>
                  <a:schemeClr val="dk1"/>
                </a:solidFill>
                <a:latin typeface="Calibri"/>
                <a:ea typeface="Calibri"/>
                <a:cs typeface="Calibri"/>
                <a:sym typeface="Calibri"/>
              </a:rPr>
              <a:t>, and </a:t>
            </a:r>
            <a:r>
              <a:rPr b="1" lang="en-IN" sz="1800">
                <a:solidFill>
                  <a:schemeClr val="dk1"/>
                </a:solidFill>
                <a:latin typeface="Calibri"/>
                <a:ea typeface="Calibri"/>
                <a:cs typeface="Calibri"/>
                <a:sym typeface="Calibri"/>
              </a:rPr>
              <a:t>transparent, verifiable election outcomes</a:t>
            </a:r>
            <a:r>
              <a:rPr lang="en-IN" sz="1800">
                <a:solidFill>
                  <a:schemeClr val="dk1"/>
                </a:solidFill>
                <a:latin typeface="Calibri"/>
                <a:ea typeface="Calibri"/>
                <a:cs typeface="Calibri"/>
                <a:sym typeface="Calibri"/>
              </a:rPr>
              <a:t>. The system is designed to function smoothly across a variety of devices and platforms, ensuring accessibility for users in different environments.</a:t>
            </a:r>
            <a:endParaRPr/>
          </a:p>
          <a:p>
            <a:pPr indent="0" lvl="0" marL="0" marR="0" rtl="0" algn="just">
              <a:spcBef>
                <a:spcPts val="0"/>
              </a:spcBef>
              <a:spcAft>
                <a:spcPts val="0"/>
              </a:spcAft>
              <a:buNone/>
            </a:pPr>
            <a:r>
              <a:rPr lang="en-IN" sz="1800">
                <a:solidFill>
                  <a:schemeClr val="dk1"/>
                </a:solidFill>
                <a:latin typeface="Calibri"/>
                <a:ea typeface="Calibri"/>
                <a:cs typeface="Calibri"/>
                <a:sym typeface="Calibri"/>
              </a:rPr>
              <a:t>Additionally, the integration of </a:t>
            </a:r>
            <a:r>
              <a:rPr b="1" lang="en-IN" sz="1800">
                <a:solidFill>
                  <a:schemeClr val="dk1"/>
                </a:solidFill>
                <a:latin typeface="Calibri"/>
                <a:ea typeface="Calibri"/>
                <a:cs typeface="Calibri"/>
                <a:sym typeface="Calibri"/>
              </a:rPr>
              <a:t>machine learning</a:t>
            </a:r>
            <a:r>
              <a:rPr lang="en-IN" sz="1800">
                <a:solidFill>
                  <a:schemeClr val="dk1"/>
                </a:solidFill>
                <a:latin typeface="Calibri"/>
                <a:ea typeface="Calibri"/>
                <a:cs typeface="Calibri"/>
                <a:sym typeface="Calibri"/>
              </a:rPr>
              <a:t> enables the system to continuously improve its predictions, providing valuable insights for future elections. </a:t>
            </a:r>
            <a:r>
              <a:rPr b="1" lang="en-IN" sz="1800">
                <a:solidFill>
                  <a:schemeClr val="dk1"/>
                </a:solidFill>
                <a:latin typeface="Calibri"/>
                <a:ea typeface="Calibri"/>
                <a:cs typeface="Calibri"/>
                <a:sym typeface="Calibri"/>
              </a:rPr>
              <a:t>Real-time feedback</a:t>
            </a:r>
            <a:r>
              <a:rPr lang="en-IN" sz="1800">
                <a:solidFill>
                  <a:schemeClr val="dk1"/>
                </a:solidFill>
                <a:latin typeface="Calibri"/>
                <a:ea typeface="Calibri"/>
                <a:cs typeface="Calibri"/>
                <a:sym typeface="Calibri"/>
              </a:rPr>
              <a:t> and </a:t>
            </a:r>
            <a:r>
              <a:rPr b="1" lang="en-IN" sz="1800">
                <a:solidFill>
                  <a:schemeClr val="dk1"/>
                </a:solidFill>
                <a:latin typeface="Calibri"/>
                <a:ea typeface="Calibri"/>
                <a:cs typeface="Calibri"/>
                <a:sym typeface="Calibri"/>
              </a:rPr>
              <a:t>election trends</a:t>
            </a:r>
            <a:r>
              <a:rPr lang="en-IN" sz="1800">
                <a:solidFill>
                  <a:schemeClr val="dk1"/>
                </a:solidFill>
                <a:latin typeface="Calibri"/>
                <a:ea typeface="Calibri"/>
                <a:cs typeface="Calibri"/>
                <a:sym typeface="Calibri"/>
              </a:rPr>
              <a:t> are displayed, enhancing the experience for administrators and voters alike.</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9"/>
          <p:cNvSpPr/>
          <p:nvPr/>
        </p:nvSpPr>
        <p:spPr>
          <a:xfrm>
            <a:off x="-1" y="-53980"/>
            <a:ext cx="12192000" cy="837398"/>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rgbClr val="FFFF00"/>
                </a:solidFill>
                <a:latin typeface="Times New Roman"/>
                <a:ea typeface="Times New Roman"/>
                <a:cs typeface="Times New Roman"/>
                <a:sym typeface="Times New Roman"/>
              </a:rPr>
              <a:t>                           Department of CSE-AI &amp; ML (CSM)</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2" name="Google Shape;182;p9"/>
          <p:cNvSpPr/>
          <p:nvPr/>
        </p:nvSpPr>
        <p:spPr>
          <a:xfrm>
            <a:off x="0" y="6464710"/>
            <a:ext cx="12192000" cy="393289"/>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83" name="Google Shape;183;p9"/>
          <p:cNvPicPr preferRelativeResize="0"/>
          <p:nvPr/>
        </p:nvPicPr>
        <p:blipFill rotWithShape="1">
          <a:blip r:embed="rId3">
            <a:alphaModFix/>
          </a:blip>
          <a:srcRect b="0" l="0" r="0" t="0"/>
          <a:stretch/>
        </p:blipFill>
        <p:spPr>
          <a:xfrm>
            <a:off x="63911" y="-38004"/>
            <a:ext cx="3229896" cy="750273"/>
          </a:xfrm>
          <a:prstGeom prst="rect">
            <a:avLst/>
          </a:prstGeom>
          <a:noFill/>
          <a:ln>
            <a:noFill/>
          </a:ln>
        </p:spPr>
      </p:pic>
      <p:sp>
        <p:nvSpPr>
          <p:cNvPr id="184" name="Google Shape;184;p9"/>
          <p:cNvSpPr txBox="1"/>
          <p:nvPr>
            <p:ph idx="10" type="dt"/>
          </p:nvPr>
        </p:nvSpPr>
        <p:spPr>
          <a:xfrm>
            <a:off x="0" y="6460922"/>
            <a:ext cx="99797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rgbClr val="FF33CC"/>
                </a:solidFill>
              </a:rPr>
              <a:t>14-04-2025</a:t>
            </a:r>
            <a:endParaRPr>
              <a:solidFill>
                <a:srgbClr val="FF33CC"/>
              </a:solidFill>
            </a:endParaRPr>
          </a:p>
        </p:txBody>
      </p:sp>
      <p:sp>
        <p:nvSpPr>
          <p:cNvPr id="185" name="Google Shape;185;p9"/>
          <p:cNvSpPr txBox="1"/>
          <p:nvPr>
            <p:ph idx="11" type="ftr"/>
          </p:nvPr>
        </p:nvSpPr>
        <p:spPr>
          <a:xfrm>
            <a:off x="3999271" y="6473622"/>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rgbClr val="FF33CC"/>
                </a:solidFill>
              </a:rPr>
              <a:t>VVIT @ Dept. CSM</a:t>
            </a:r>
            <a:endParaRPr/>
          </a:p>
        </p:txBody>
      </p:sp>
      <p:sp>
        <p:nvSpPr>
          <p:cNvPr id="186" name="Google Shape;186;p9"/>
          <p:cNvSpPr txBox="1"/>
          <p:nvPr>
            <p:ph idx="12" type="sldNum"/>
          </p:nvPr>
        </p:nvSpPr>
        <p:spPr>
          <a:xfrm>
            <a:off x="11488994" y="6478792"/>
            <a:ext cx="614516" cy="34725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rgbClr val="FF33CC"/>
                </a:solidFill>
              </a:rPr>
              <a:t>‹#›</a:t>
            </a:fld>
            <a:endParaRPr>
              <a:solidFill>
                <a:srgbClr val="FF33CC"/>
              </a:solidFill>
            </a:endParaRPr>
          </a:p>
        </p:txBody>
      </p:sp>
      <p:sp>
        <p:nvSpPr>
          <p:cNvPr id="187" name="Google Shape;187;p9"/>
          <p:cNvSpPr txBox="1"/>
          <p:nvPr/>
        </p:nvSpPr>
        <p:spPr>
          <a:xfrm flipH="1">
            <a:off x="348110" y="889693"/>
            <a:ext cx="1141806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3600">
                <a:solidFill>
                  <a:schemeClr val="dk1"/>
                </a:solidFill>
                <a:latin typeface="Calibri"/>
                <a:ea typeface="Calibri"/>
                <a:cs typeface="Calibri"/>
                <a:sym typeface="Calibri"/>
              </a:rPr>
              <a:t>System Architecture</a:t>
            </a:r>
            <a:endParaRPr sz="3600">
              <a:solidFill>
                <a:schemeClr val="dk1"/>
              </a:solidFill>
              <a:latin typeface="Calibri"/>
              <a:ea typeface="Calibri"/>
              <a:cs typeface="Calibri"/>
              <a:sym typeface="Calibri"/>
            </a:endParaRPr>
          </a:p>
        </p:txBody>
      </p:sp>
      <p:sp>
        <p:nvSpPr>
          <p:cNvPr id="188" name="Google Shape;188;p9"/>
          <p:cNvSpPr txBox="1"/>
          <p:nvPr/>
        </p:nvSpPr>
        <p:spPr>
          <a:xfrm>
            <a:off x="9019387" y="117032"/>
            <a:ext cx="310870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Team:BATCH7</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21BQ1A42I1,                         21BQ5A42F3,</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21BQ1A42D6,                        21BQ1A42I4</a:t>
            </a:r>
            <a:endParaRPr sz="1800">
              <a:solidFill>
                <a:schemeClr val="dk1"/>
              </a:solidFill>
              <a:latin typeface="Calibri"/>
              <a:ea typeface="Calibri"/>
              <a:cs typeface="Calibri"/>
              <a:sym typeface="Calibri"/>
            </a:endParaRPr>
          </a:p>
        </p:txBody>
      </p:sp>
      <p:pic>
        <p:nvPicPr>
          <p:cNvPr id="189" name="Google Shape;189;p9"/>
          <p:cNvPicPr preferRelativeResize="0"/>
          <p:nvPr/>
        </p:nvPicPr>
        <p:blipFill rotWithShape="1">
          <a:blip r:embed="rId4">
            <a:alphaModFix/>
          </a:blip>
          <a:srcRect b="0" l="0" r="0" t="0"/>
          <a:stretch/>
        </p:blipFill>
        <p:spPr>
          <a:xfrm>
            <a:off x="1996921" y="1435660"/>
            <a:ext cx="9382279" cy="49579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0"/>
          <p:cNvSpPr/>
          <p:nvPr/>
        </p:nvSpPr>
        <p:spPr>
          <a:xfrm>
            <a:off x="-1" y="-53980"/>
            <a:ext cx="12192000" cy="837398"/>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rgbClr val="FFFF00"/>
                </a:solidFill>
                <a:latin typeface="Times New Roman"/>
                <a:ea typeface="Times New Roman"/>
                <a:cs typeface="Times New Roman"/>
                <a:sym typeface="Times New Roman"/>
              </a:rPr>
              <a:t>                           Department of CSE-AI &amp; ML (CSM)</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 name="Google Shape;195;p10"/>
          <p:cNvSpPr/>
          <p:nvPr/>
        </p:nvSpPr>
        <p:spPr>
          <a:xfrm>
            <a:off x="0" y="6464710"/>
            <a:ext cx="12192000" cy="393289"/>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96" name="Google Shape;196;p10"/>
          <p:cNvPicPr preferRelativeResize="0"/>
          <p:nvPr/>
        </p:nvPicPr>
        <p:blipFill rotWithShape="1">
          <a:blip r:embed="rId3">
            <a:alphaModFix/>
          </a:blip>
          <a:srcRect b="0" l="0" r="0" t="0"/>
          <a:stretch/>
        </p:blipFill>
        <p:spPr>
          <a:xfrm>
            <a:off x="63911" y="-38004"/>
            <a:ext cx="3229896" cy="750273"/>
          </a:xfrm>
          <a:prstGeom prst="rect">
            <a:avLst/>
          </a:prstGeom>
          <a:noFill/>
          <a:ln>
            <a:noFill/>
          </a:ln>
        </p:spPr>
      </p:pic>
      <p:sp>
        <p:nvSpPr>
          <p:cNvPr id="197" name="Google Shape;197;p10"/>
          <p:cNvSpPr txBox="1"/>
          <p:nvPr>
            <p:ph idx="10" type="dt"/>
          </p:nvPr>
        </p:nvSpPr>
        <p:spPr>
          <a:xfrm>
            <a:off x="0" y="6460922"/>
            <a:ext cx="99797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rgbClr val="FF33CC"/>
                </a:solidFill>
              </a:rPr>
              <a:t>14-04-2025</a:t>
            </a:r>
            <a:endParaRPr>
              <a:solidFill>
                <a:srgbClr val="FF33CC"/>
              </a:solidFill>
            </a:endParaRPr>
          </a:p>
        </p:txBody>
      </p:sp>
      <p:sp>
        <p:nvSpPr>
          <p:cNvPr id="198" name="Google Shape;198;p10"/>
          <p:cNvSpPr txBox="1"/>
          <p:nvPr>
            <p:ph idx="11" type="ftr"/>
          </p:nvPr>
        </p:nvSpPr>
        <p:spPr>
          <a:xfrm>
            <a:off x="3999271" y="6473622"/>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rgbClr val="FF33CC"/>
                </a:solidFill>
              </a:rPr>
              <a:t>VVIT @ Dept. CSM</a:t>
            </a:r>
            <a:endParaRPr/>
          </a:p>
        </p:txBody>
      </p:sp>
      <p:sp>
        <p:nvSpPr>
          <p:cNvPr id="199" name="Google Shape;199;p10"/>
          <p:cNvSpPr txBox="1"/>
          <p:nvPr>
            <p:ph idx="12" type="sldNum"/>
          </p:nvPr>
        </p:nvSpPr>
        <p:spPr>
          <a:xfrm>
            <a:off x="11488994" y="6478792"/>
            <a:ext cx="614516" cy="34725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rgbClr val="FF33CC"/>
                </a:solidFill>
              </a:rPr>
              <a:t>‹#›</a:t>
            </a:fld>
            <a:endParaRPr>
              <a:solidFill>
                <a:srgbClr val="FF33CC"/>
              </a:solidFill>
            </a:endParaRPr>
          </a:p>
        </p:txBody>
      </p:sp>
      <p:sp>
        <p:nvSpPr>
          <p:cNvPr id="200" name="Google Shape;200;p10"/>
          <p:cNvSpPr txBox="1"/>
          <p:nvPr/>
        </p:nvSpPr>
        <p:spPr>
          <a:xfrm flipH="1">
            <a:off x="347638" y="799394"/>
            <a:ext cx="11418066"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Calibri"/>
              <a:buNone/>
            </a:pPr>
            <a:r>
              <a:rPr b="1" lang="en-IN" sz="2400">
                <a:solidFill>
                  <a:schemeClr val="dk1"/>
                </a:solidFill>
                <a:latin typeface="Calibri"/>
                <a:ea typeface="Calibri"/>
                <a:cs typeface="Calibri"/>
                <a:sym typeface="Calibri"/>
              </a:rPr>
              <a:t>1. Voter Registration &amp; Authentication</a:t>
            </a:r>
            <a:endParaRPr sz="18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Admin registers voters with their </a:t>
            </a:r>
            <a:r>
              <a:rPr b="1" lang="en-IN" sz="1800">
                <a:solidFill>
                  <a:schemeClr val="dk1"/>
                </a:solidFill>
                <a:latin typeface="Calibri"/>
                <a:ea typeface="Calibri"/>
                <a:cs typeface="Calibri"/>
                <a:sym typeface="Calibri"/>
              </a:rPr>
              <a:t>face and voter ID</a:t>
            </a:r>
            <a:r>
              <a:rPr lang="en-IN" sz="1800">
                <a:solidFill>
                  <a:schemeClr val="dk1"/>
                </a:solidFill>
                <a:latin typeface="Calibri"/>
                <a:ea typeface="Calibri"/>
                <a:cs typeface="Calibri"/>
                <a:sym typeface="Calibri"/>
              </a:rPr>
              <a:t>.</a:t>
            </a:r>
            <a:endParaRPr/>
          </a:p>
          <a:p>
            <a:pPr indent="-114300" lvl="0" marL="0" marR="0" rtl="0" algn="l">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Bulk data upload for easy voter registration.</a:t>
            </a:r>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Face recognition</a:t>
            </a:r>
            <a:r>
              <a:rPr lang="en-IN" sz="1800">
                <a:solidFill>
                  <a:schemeClr val="dk1"/>
                </a:solidFill>
                <a:latin typeface="Calibri"/>
                <a:ea typeface="Calibri"/>
                <a:cs typeface="Calibri"/>
                <a:sym typeface="Calibri"/>
              </a:rPr>
              <a:t> ensures secure voter authentication.</a:t>
            </a:r>
            <a:endParaRPr/>
          </a:p>
        </p:txBody>
      </p:sp>
      <p:sp>
        <p:nvSpPr>
          <p:cNvPr id="201" name="Google Shape;201;p10"/>
          <p:cNvSpPr txBox="1"/>
          <p:nvPr/>
        </p:nvSpPr>
        <p:spPr>
          <a:xfrm>
            <a:off x="9019387" y="117032"/>
            <a:ext cx="310870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Team:BATCH7</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21BQ1A42I1,                         21BQ1A42F3,</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21BQ1A42D6,                        21BQ1A42I4</a:t>
            </a:r>
            <a:endParaRPr sz="1800">
              <a:solidFill>
                <a:schemeClr val="dk1"/>
              </a:solidFill>
              <a:latin typeface="Calibri"/>
              <a:ea typeface="Calibri"/>
              <a:cs typeface="Calibri"/>
              <a:sym typeface="Calibri"/>
            </a:endParaRPr>
          </a:p>
        </p:txBody>
      </p:sp>
      <p:pic>
        <p:nvPicPr>
          <p:cNvPr descr="A screen shot of a computer&#10;&#10;AI-generated content may be incorrect." id="202" name="Google Shape;202;p10"/>
          <p:cNvPicPr preferRelativeResize="0"/>
          <p:nvPr/>
        </p:nvPicPr>
        <p:blipFill rotWithShape="1">
          <a:blip r:embed="rId4">
            <a:alphaModFix/>
          </a:blip>
          <a:srcRect b="0" l="0" r="0" t="0"/>
          <a:stretch/>
        </p:blipFill>
        <p:spPr>
          <a:xfrm>
            <a:off x="5324203" y="2408442"/>
            <a:ext cx="6867797" cy="4068051"/>
          </a:xfrm>
          <a:prstGeom prst="rect">
            <a:avLst/>
          </a:prstGeom>
          <a:noFill/>
          <a:ln>
            <a:noFill/>
          </a:ln>
        </p:spPr>
      </p:pic>
      <p:pic>
        <p:nvPicPr>
          <p:cNvPr descr="A screenshot of a computer&#10;&#10;AI-generated content may be incorrect." id="203" name="Google Shape;203;p10"/>
          <p:cNvPicPr preferRelativeResize="0"/>
          <p:nvPr/>
        </p:nvPicPr>
        <p:blipFill rotWithShape="1">
          <a:blip r:embed="rId5">
            <a:alphaModFix/>
          </a:blip>
          <a:srcRect b="0" l="0" r="0" t="0"/>
          <a:stretch/>
        </p:blipFill>
        <p:spPr>
          <a:xfrm>
            <a:off x="-1" y="4501814"/>
            <a:ext cx="5395895" cy="1965767"/>
          </a:xfrm>
          <a:prstGeom prst="rect">
            <a:avLst/>
          </a:prstGeom>
          <a:noFill/>
          <a:ln>
            <a:noFill/>
          </a:ln>
        </p:spPr>
      </p:pic>
      <p:pic>
        <p:nvPicPr>
          <p:cNvPr descr="A screenshot of a login form&#10;&#10;AI-generated content may be incorrect." id="204" name="Google Shape;204;p10"/>
          <p:cNvPicPr preferRelativeResize="0"/>
          <p:nvPr/>
        </p:nvPicPr>
        <p:blipFill rotWithShape="1">
          <a:blip r:embed="rId6">
            <a:alphaModFix/>
          </a:blip>
          <a:srcRect b="0" l="0" r="0" t="0"/>
          <a:stretch/>
        </p:blipFill>
        <p:spPr>
          <a:xfrm>
            <a:off x="5586627" y="783418"/>
            <a:ext cx="6452972" cy="2068419"/>
          </a:xfrm>
          <a:prstGeom prst="rect">
            <a:avLst/>
          </a:prstGeom>
          <a:noFill/>
          <a:ln>
            <a:noFill/>
          </a:ln>
        </p:spPr>
      </p:pic>
      <p:pic>
        <p:nvPicPr>
          <p:cNvPr descr="A screenshot of a computer&#10;&#10;AI-generated content may be incorrect." id="205" name="Google Shape;205;p10"/>
          <p:cNvPicPr preferRelativeResize="0"/>
          <p:nvPr/>
        </p:nvPicPr>
        <p:blipFill rotWithShape="1">
          <a:blip r:embed="rId7">
            <a:alphaModFix/>
          </a:blip>
          <a:srcRect b="0" l="0" r="0" t="0"/>
          <a:stretch/>
        </p:blipFill>
        <p:spPr>
          <a:xfrm>
            <a:off x="42607" y="2092056"/>
            <a:ext cx="5238988" cy="248435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1"/>
          <p:cNvSpPr/>
          <p:nvPr/>
        </p:nvSpPr>
        <p:spPr>
          <a:xfrm>
            <a:off x="-1" y="-53980"/>
            <a:ext cx="12192000" cy="837398"/>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rgbClr val="FFFF00"/>
                </a:solidFill>
                <a:latin typeface="Times New Roman"/>
                <a:ea typeface="Times New Roman"/>
                <a:cs typeface="Times New Roman"/>
                <a:sym typeface="Times New Roman"/>
              </a:rPr>
              <a:t>                           Department of CSE-AI &amp; ML (CSM)</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1" name="Google Shape;211;p11"/>
          <p:cNvSpPr/>
          <p:nvPr/>
        </p:nvSpPr>
        <p:spPr>
          <a:xfrm>
            <a:off x="0" y="6464710"/>
            <a:ext cx="12192000" cy="393289"/>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12" name="Google Shape;212;p11"/>
          <p:cNvPicPr preferRelativeResize="0"/>
          <p:nvPr/>
        </p:nvPicPr>
        <p:blipFill rotWithShape="1">
          <a:blip r:embed="rId3">
            <a:alphaModFix/>
          </a:blip>
          <a:srcRect b="0" l="0" r="0" t="0"/>
          <a:stretch/>
        </p:blipFill>
        <p:spPr>
          <a:xfrm>
            <a:off x="63911" y="-38004"/>
            <a:ext cx="3229896" cy="750273"/>
          </a:xfrm>
          <a:prstGeom prst="rect">
            <a:avLst/>
          </a:prstGeom>
          <a:noFill/>
          <a:ln>
            <a:noFill/>
          </a:ln>
        </p:spPr>
      </p:pic>
      <p:sp>
        <p:nvSpPr>
          <p:cNvPr id="213" name="Google Shape;213;p11"/>
          <p:cNvSpPr txBox="1"/>
          <p:nvPr>
            <p:ph idx="10" type="dt"/>
          </p:nvPr>
        </p:nvSpPr>
        <p:spPr>
          <a:xfrm>
            <a:off x="0" y="6460922"/>
            <a:ext cx="99797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rgbClr val="FF33CC"/>
                </a:solidFill>
              </a:rPr>
              <a:t>14-04-2025</a:t>
            </a:r>
            <a:endParaRPr>
              <a:solidFill>
                <a:srgbClr val="FF33CC"/>
              </a:solidFill>
            </a:endParaRPr>
          </a:p>
        </p:txBody>
      </p:sp>
      <p:sp>
        <p:nvSpPr>
          <p:cNvPr id="214" name="Google Shape;214;p11"/>
          <p:cNvSpPr txBox="1"/>
          <p:nvPr>
            <p:ph idx="11" type="ftr"/>
          </p:nvPr>
        </p:nvSpPr>
        <p:spPr>
          <a:xfrm>
            <a:off x="3999271" y="6473622"/>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rgbClr val="FF33CC"/>
                </a:solidFill>
              </a:rPr>
              <a:t>VVIT @ Dept. CSM</a:t>
            </a:r>
            <a:endParaRPr/>
          </a:p>
        </p:txBody>
      </p:sp>
      <p:sp>
        <p:nvSpPr>
          <p:cNvPr id="215" name="Google Shape;215;p11"/>
          <p:cNvSpPr txBox="1"/>
          <p:nvPr>
            <p:ph idx="12" type="sldNum"/>
          </p:nvPr>
        </p:nvSpPr>
        <p:spPr>
          <a:xfrm>
            <a:off x="11488994" y="6478792"/>
            <a:ext cx="614516" cy="34725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rgbClr val="FF33CC"/>
                </a:solidFill>
              </a:rPr>
              <a:t>‹#›</a:t>
            </a:fld>
            <a:endParaRPr>
              <a:solidFill>
                <a:srgbClr val="FF33CC"/>
              </a:solidFill>
            </a:endParaRPr>
          </a:p>
        </p:txBody>
      </p:sp>
      <p:sp>
        <p:nvSpPr>
          <p:cNvPr id="216" name="Google Shape;216;p11"/>
          <p:cNvSpPr txBox="1"/>
          <p:nvPr/>
        </p:nvSpPr>
        <p:spPr>
          <a:xfrm>
            <a:off x="9019387" y="117032"/>
            <a:ext cx="310870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Team:BATCH7</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21BQ1A42I1,                         21BQ5A42F3,</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21BQ1A42D6,                        21BQ5A42I4</a:t>
            </a:r>
            <a:endParaRPr sz="1800">
              <a:solidFill>
                <a:schemeClr val="dk1"/>
              </a:solidFill>
              <a:latin typeface="Calibri"/>
              <a:ea typeface="Calibri"/>
              <a:cs typeface="Calibri"/>
              <a:sym typeface="Calibri"/>
            </a:endParaRPr>
          </a:p>
        </p:txBody>
      </p:sp>
      <p:sp>
        <p:nvSpPr>
          <p:cNvPr id="217" name="Google Shape;217;p11"/>
          <p:cNvSpPr txBox="1"/>
          <p:nvPr/>
        </p:nvSpPr>
        <p:spPr>
          <a:xfrm>
            <a:off x="349250" y="763363"/>
            <a:ext cx="552226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b="1" lang="en-IN" sz="1800">
                <a:solidFill>
                  <a:schemeClr val="dk1"/>
                </a:solidFill>
                <a:latin typeface="Calibri"/>
                <a:ea typeface="Calibri"/>
                <a:cs typeface="Calibri"/>
                <a:sym typeface="Calibri"/>
              </a:rPr>
              <a:t>Election &amp; Candidate Management</a:t>
            </a:r>
            <a:endParaRPr sz="18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Admin can </a:t>
            </a:r>
            <a:r>
              <a:rPr b="1" lang="en-IN" sz="1800">
                <a:solidFill>
                  <a:schemeClr val="dk1"/>
                </a:solidFill>
                <a:latin typeface="Calibri"/>
                <a:ea typeface="Calibri"/>
                <a:cs typeface="Calibri"/>
                <a:sym typeface="Calibri"/>
              </a:rPr>
              <a:t>create elections</a:t>
            </a:r>
            <a:r>
              <a:rPr lang="en-IN" sz="1800">
                <a:solidFill>
                  <a:schemeClr val="dk1"/>
                </a:solidFill>
                <a:latin typeface="Calibri"/>
                <a:ea typeface="Calibri"/>
                <a:cs typeface="Calibri"/>
                <a:sym typeface="Calibri"/>
              </a:rPr>
              <a:t> and add candidates.</a:t>
            </a:r>
            <a:endParaRPr/>
          </a:p>
          <a:p>
            <a:pPr indent="-114300" lvl="0" marL="0" marR="0" rtl="0" algn="l">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All </a:t>
            </a:r>
            <a:r>
              <a:rPr b="1" lang="en-IN" sz="1800">
                <a:solidFill>
                  <a:schemeClr val="dk1"/>
                </a:solidFill>
                <a:latin typeface="Calibri"/>
                <a:ea typeface="Calibri"/>
                <a:cs typeface="Calibri"/>
                <a:sym typeface="Calibri"/>
              </a:rPr>
              <a:t>election data</a:t>
            </a:r>
            <a:r>
              <a:rPr lang="en-IN" sz="1800">
                <a:solidFill>
                  <a:schemeClr val="dk1"/>
                </a:solidFill>
                <a:latin typeface="Calibri"/>
                <a:ea typeface="Calibri"/>
                <a:cs typeface="Calibri"/>
                <a:sym typeface="Calibri"/>
              </a:rPr>
              <a:t> is stored securely on the </a:t>
            </a:r>
            <a:r>
              <a:rPr b="1" lang="en-IN" sz="1800">
                <a:solidFill>
                  <a:schemeClr val="dk1"/>
                </a:solidFill>
                <a:latin typeface="Calibri"/>
                <a:ea typeface="Calibri"/>
                <a:cs typeface="Calibri"/>
                <a:sym typeface="Calibri"/>
              </a:rPr>
              <a:t>blockchain</a:t>
            </a:r>
            <a:r>
              <a:rPr lang="en-IN"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IN" sz="1800">
                <a:solidFill>
                  <a:schemeClr val="dk1"/>
                </a:solidFill>
                <a:latin typeface="Calibri"/>
                <a:ea typeface="Calibri"/>
                <a:cs typeface="Calibri"/>
                <a:sym typeface="Calibri"/>
              </a:rPr>
              <a:t> ensuring transparency.</a:t>
            </a:r>
            <a:endParaRPr/>
          </a:p>
        </p:txBody>
      </p:sp>
      <p:pic>
        <p:nvPicPr>
          <p:cNvPr descr="A screenshot of a computer&#10;&#10;AI-generated content may be incorrect." id="218" name="Google Shape;218;p11"/>
          <p:cNvPicPr preferRelativeResize="0"/>
          <p:nvPr/>
        </p:nvPicPr>
        <p:blipFill rotWithShape="1">
          <a:blip r:embed="rId4">
            <a:alphaModFix/>
          </a:blip>
          <a:srcRect b="0" l="0" r="0" t="0"/>
          <a:stretch/>
        </p:blipFill>
        <p:spPr>
          <a:xfrm>
            <a:off x="5871517" y="653111"/>
            <a:ext cx="6320481" cy="2809469"/>
          </a:xfrm>
          <a:prstGeom prst="rect">
            <a:avLst/>
          </a:prstGeom>
          <a:noFill/>
          <a:ln>
            <a:noFill/>
          </a:ln>
        </p:spPr>
      </p:pic>
      <p:pic>
        <p:nvPicPr>
          <p:cNvPr descr="A screenshot of a computer&#10;&#10;AI-generated content may be incorrect." id="219" name="Google Shape;219;p11"/>
          <p:cNvPicPr preferRelativeResize="0"/>
          <p:nvPr/>
        </p:nvPicPr>
        <p:blipFill rotWithShape="1">
          <a:blip r:embed="rId5">
            <a:alphaModFix/>
          </a:blip>
          <a:srcRect b="0" l="0" r="0" t="0"/>
          <a:stretch/>
        </p:blipFill>
        <p:spPr>
          <a:xfrm>
            <a:off x="-1" y="1902521"/>
            <a:ext cx="5871518" cy="4539149"/>
          </a:xfrm>
          <a:prstGeom prst="rect">
            <a:avLst/>
          </a:prstGeom>
          <a:noFill/>
          <a:ln>
            <a:noFill/>
          </a:ln>
        </p:spPr>
      </p:pic>
      <p:pic>
        <p:nvPicPr>
          <p:cNvPr descr="A screen shot of a computer&#10;&#10;AI-generated content may be incorrect." id="220" name="Google Shape;220;p11"/>
          <p:cNvPicPr preferRelativeResize="0"/>
          <p:nvPr/>
        </p:nvPicPr>
        <p:blipFill rotWithShape="1">
          <a:blip r:embed="rId6">
            <a:alphaModFix/>
          </a:blip>
          <a:srcRect b="0" l="0" r="0" t="0"/>
          <a:stretch/>
        </p:blipFill>
        <p:spPr>
          <a:xfrm>
            <a:off x="5765799" y="3327400"/>
            <a:ext cx="6426200" cy="312318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2"/>
          <p:cNvSpPr/>
          <p:nvPr/>
        </p:nvSpPr>
        <p:spPr>
          <a:xfrm>
            <a:off x="-1" y="-53980"/>
            <a:ext cx="12192000" cy="837398"/>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rgbClr val="FFFF00"/>
                </a:solidFill>
                <a:latin typeface="Times New Roman"/>
                <a:ea typeface="Times New Roman"/>
                <a:cs typeface="Times New Roman"/>
                <a:sym typeface="Times New Roman"/>
              </a:rPr>
              <a:t>                           Department of CSE-AI &amp; ML (CSM)</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 name="Google Shape;226;p12"/>
          <p:cNvSpPr/>
          <p:nvPr/>
        </p:nvSpPr>
        <p:spPr>
          <a:xfrm>
            <a:off x="0" y="6464710"/>
            <a:ext cx="12192000" cy="393289"/>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27" name="Google Shape;227;p12"/>
          <p:cNvPicPr preferRelativeResize="0"/>
          <p:nvPr/>
        </p:nvPicPr>
        <p:blipFill rotWithShape="1">
          <a:blip r:embed="rId3">
            <a:alphaModFix/>
          </a:blip>
          <a:srcRect b="0" l="0" r="0" t="0"/>
          <a:stretch/>
        </p:blipFill>
        <p:spPr>
          <a:xfrm>
            <a:off x="63911" y="-38004"/>
            <a:ext cx="3229896" cy="750273"/>
          </a:xfrm>
          <a:prstGeom prst="rect">
            <a:avLst/>
          </a:prstGeom>
          <a:noFill/>
          <a:ln>
            <a:noFill/>
          </a:ln>
        </p:spPr>
      </p:pic>
      <p:sp>
        <p:nvSpPr>
          <p:cNvPr id="228" name="Google Shape;228;p12"/>
          <p:cNvSpPr txBox="1"/>
          <p:nvPr>
            <p:ph idx="10" type="dt"/>
          </p:nvPr>
        </p:nvSpPr>
        <p:spPr>
          <a:xfrm>
            <a:off x="0" y="6460922"/>
            <a:ext cx="99797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rgbClr val="FF33CC"/>
                </a:solidFill>
              </a:rPr>
              <a:t>14-04-2025</a:t>
            </a:r>
            <a:endParaRPr>
              <a:solidFill>
                <a:srgbClr val="FF33CC"/>
              </a:solidFill>
            </a:endParaRPr>
          </a:p>
        </p:txBody>
      </p:sp>
      <p:sp>
        <p:nvSpPr>
          <p:cNvPr id="229" name="Google Shape;229;p12"/>
          <p:cNvSpPr txBox="1"/>
          <p:nvPr>
            <p:ph idx="11" type="ftr"/>
          </p:nvPr>
        </p:nvSpPr>
        <p:spPr>
          <a:xfrm>
            <a:off x="3999271" y="6473622"/>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rgbClr val="FF33CC"/>
                </a:solidFill>
              </a:rPr>
              <a:t>VVIT @ Dept. CSM</a:t>
            </a:r>
            <a:endParaRPr/>
          </a:p>
        </p:txBody>
      </p:sp>
      <p:sp>
        <p:nvSpPr>
          <p:cNvPr id="230" name="Google Shape;230;p12"/>
          <p:cNvSpPr txBox="1"/>
          <p:nvPr>
            <p:ph idx="12" type="sldNum"/>
          </p:nvPr>
        </p:nvSpPr>
        <p:spPr>
          <a:xfrm>
            <a:off x="11488994" y="6478792"/>
            <a:ext cx="614516" cy="34725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rgbClr val="FF33CC"/>
                </a:solidFill>
              </a:rPr>
              <a:t>‹#›</a:t>
            </a:fld>
            <a:endParaRPr>
              <a:solidFill>
                <a:srgbClr val="FF33CC"/>
              </a:solidFill>
            </a:endParaRPr>
          </a:p>
        </p:txBody>
      </p:sp>
      <p:sp>
        <p:nvSpPr>
          <p:cNvPr id="231" name="Google Shape;231;p12"/>
          <p:cNvSpPr txBox="1"/>
          <p:nvPr/>
        </p:nvSpPr>
        <p:spPr>
          <a:xfrm flipH="1">
            <a:off x="348110" y="889693"/>
            <a:ext cx="1161529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Calibri"/>
              <a:buNone/>
            </a:pPr>
            <a:r>
              <a:rPr b="1" lang="en-IN" sz="2400">
                <a:solidFill>
                  <a:schemeClr val="dk1"/>
                </a:solidFill>
                <a:latin typeface="Calibri"/>
                <a:ea typeface="Calibri"/>
                <a:cs typeface="Calibri"/>
                <a:sym typeface="Calibri"/>
              </a:rPr>
              <a:t>Secure &amp; Transparent Voting Process</a:t>
            </a:r>
            <a:endParaRPr sz="2400">
              <a:solidFill>
                <a:schemeClr val="dk1"/>
              </a:solidFill>
              <a:latin typeface="Calibri"/>
              <a:ea typeface="Calibri"/>
              <a:cs typeface="Calibri"/>
              <a:sym typeface="Calibri"/>
            </a:endParaRPr>
          </a:p>
          <a:p>
            <a:pPr indent="-152400" lvl="0" marL="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Voters cast votes digitally with </a:t>
            </a:r>
            <a:r>
              <a:rPr b="1" lang="en-IN" sz="2400">
                <a:solidFill>
                  <a:schemeClr val="dk1"/>
                </a:solidFill>
                <a:latin typeface="Calibri"/>
                <a:ea typeface="Calibri"/>
                <a:cs typeface="Calibri"/>
                <a:sym typeface="Calibri"/>
              </a:rPr>
              <a:t>immutable blockchain recording</a:t>
            </a:r>
            <a:r>
              <a:rPr lang="en-IN" sz="2400">
                <a:solidFill>
                  <a:schemeClr val="dk1"/>
                </a:solidFill>
                <a:latin typeface="Calibri"/>
                <a:ea typeface="Calibri"/>
                <a:cs typeface="Calibri"/>
                <a:sym typeface="Calibri"/>
              </a:rPr>
              <a:t>.</a:t>
            </a:r>
            <a:endParaRPr/>
          </a:p>
          <a:p>
            <a:pPr indent="-152400" lvl="0" marL="0" marR="0" rtl="0" algn="l">
              <a:spcBef>
                <a:spcPts val="0"/>
              </a:spcBef>
              <a:spcAft>
                <a:spcPts val="0"/>
              </a:spcAft>
              <a:buClr>
                <a:schemeClr val="dk1"/>
              </a:buClr>
              <a:buSzPts val="2400"/>
              <a:buFont typeface="Arial"/>
              <a:buChar char="•"/>
            </a:pPr>
            <a:r>
              <a:rPr lang="en-IN" sz="2400">
                <a:solidFill>
                  <a:schemeClr val="dk1"/>
                </a:solidFill>
                <a:latin typeface="Calibri"/>
                <a:ea typeface="Calibri"/>
                <a:cs typeface="Calibri"/>
                <a:sym typeface="Calibri"/>
              </a:rPr>
              <a:t>Only </a:t>
            </a:r>
            <a:r>
              <a:rPr b="1" lang="en-IN" sz="2400">
                <a:solidFill>
                  <a:schemeClr val="dk1"/>
                </a:solidFill>
                <a:latin typeface="Calibri"/>
                <a:ea typeface="Calibri"/>
                <a:cs typeface="Calibri"/>
                <a:sym typeface="Calibri"/>
              </a:rPr>
              <a:t>one vote per voter</a:t>
            </a:r>
            <a:r>
              <a:rPr lang="en-IN" sz="2400">
                <a:solidFill>
                  <a:schemeClr val="dk1"/>
                </a:solidFill>
                <a:latin typeface="Calibri"/>
                <a:ea typeface="Calibri"/>
                <a:cs typeface="Calibri"/>
                <a:sym typeface="Calibri"/>
              </a:rPr>
              <a:t> ensures fairness.</a:t>
            </a:r>
            <a:endParaRPr/>
          </a:p>
        </p:txBody>
      </p:sp>
      <p:sp>
        <p:nvSpPr>
          <p:cNvPr id="232" name="Google Shape;232;p12"/>
          <p:cNvSpPr txBox="1"/>
          <p:nvPr/>
        </p:nvSpPr>
        <p:spPr>
          <a:xfrm>
            <a:off x="9019387" y="117032"/>
            <a:ext cx="310870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Team:BATCH7</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21BQ1A42I1,                         21BQ1A42F3,</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21BQ1A42D6,                        21BQ1A42I4</a:t>
            </a:r>
            <a:endParaRPr sz="1800">
              <a:solidFill>
                <a:schemeClr val="dk1"/>
              </a:solidFill>
              <a:latin typeface="Calibri"/>
              <a:ea typeface="Calibri"/>
              <a:cs typeface="Calibri"/>
              <a:sym typeface="Calibri"/>
            </a:endParaRPr>
          </a:p>
        </p:txBody>
      </p:sp>
      <p:pic>
        <p:nvPicPr>
          <p:cNvPr descr="A screenshot of a computer&#10;&#10;AI-generated content may be incorrect." id="233" name="Google Shape;233;p12"/>
          <p:cNvPicPr preferRelativeResize="0"/>
          <p:nvPr/>
        </p:nvPicPr>
        <p:blipFill rotWithShape="1">
          <a:blip r:embed="rId4">
            <a:alphaModFix/>
          </a:blip>
          <a:srcRect b="0" l="0" r="0" t="0"/>
          <a:stretch/>
        </p:blipFill>
        <p:spPr>
          <a:xfrm>
            <a:off x="6413500" y="2120740"/>
            <a:ext cx="5778500" cy="4352882"/>
          </a:xfrm>
          <a:prstGeom prst="rect">
            <a:avLst/>
          </a:prstGeom>
          <a:noFill/>
          <a:ln>
            <a:noFill/>
          </a:ln>
        </p:spPr>
      </p:pic>
      <p:pic>
        <p:nvPicPr>
          <p:cNvPr descr="A screenshot of a computer&#10;&#10;AI-generated content may be incorrect." id="234" name="Google Shape;234;p12"/>
          <p:cNvPicPr preferRelativeResize="0"/>
          <p:nvPr/>
        </p:nvPicPr>
        <p:blipFill rotWithShape="1">
          <a:blip r:embed="rId5">
            <a:alphaModFix/>
          </a:blip>
          <a:srcRect b="0" l="0" r="0" t="0"/>
          <a:stretch/>
        </p:blipFill>
        <p:spPr>
          <a:xfrm>
            <a:off x="0" y="2120740"/>
            <a:ext cx="6413500" cy="430823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3"/>
          <p:cNvSpPr/>
          <p:nvPr/>
        </p:nvSpPr>
        <p:spPr>
          <a:xfrm>
            <a:off x="-1" y="-53980"/>
            <a:ext cx="12192000" cy="837398"/>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rgbClr val="FFFF00"/>
                </a:solidFill>
                <a:latin typeface="Times New Roman"/>
                <a:ea typeface="Times New Roman"/>
                <a:cs typeface="Times New Roman"/>
                <a:sym typeface="Times New Roman"/>
              </a:rPr>
              <a:t>                           Department of CSE-AI &amp; ML (CSM)</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0" name="Google Shape;240;p13"/>
          <p:cNvSpPr/>
          <p:nvPr/>
        </p:nvSpPr>
        <p:spPr>
          <a:xfrm>
            <a:off x="0" y="6464710"/>
            <a:ext cx="12192000" cy="393289"/>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41" name="Google Shape;241;p13"/>
          <p:cNvPicPr preferRelativeResize="0"/>
          <p:nvPr/>
        </p:nvPicPr>
        <p:blipFill rotWithShape="1">
          <a:blip r:embed="rId3">
            <a:alphaModFix/>
          </a:blip>
          <a:srcRect b="0" l="0" r="0" t="0"/>
          <a:stretch/>
        </p:blipFill>
        <p:spPr>
          <a:xfrm>
            <a:off x="63911" y="-38004"/>
            <a:ext cx="3229896" cy="750273"/>
          </a:xfrm>
          <a:prstGeom prst="rect">
            <a:avLst/>
          </a:prstGeom>
          <a:noFill/>
          <a:ln>
            <a:noFill/>
          </a:ln>
        </p:spPr>
      </p:pic>
      <p:sp>
        <p:nvSpPr>
          <p:cNvPr id="242" name="Google Shape;242;p13"/>
          <p:cNvSpPr txBox="1"/>
          <p:nvPr>
            <p:ph idx="10" type="dt"/>
          </p:nvPr>
        </p:nvSpPr>
        <p:spPr>
          <a:xfrm>
            <a:off x="0" y="6460922"/>
            <a:ext cx="99797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rgbClr val="FF33CC"/>
                </a:solidFill>
              </a:rPr>
              <a:t>14-04-2025</a:t>
            </a:r>
            <a:endParaRPr>
              <a:solidFill>
                <a:srgbClr val="FF33CC"/>
              </a:solidFill>
            </a:endParaRPr>
          </a:p>
        </p:txBody>
      </p:sp>
      <p:sp>
        <p:nvSpPr>
          <p:cNvPr id="243" name="Google Shape;243;p13"/>
          <p:cNvSpPr txBox="1"/>
          <p:nvPr>
            <p:ph idx="11" type="ftr"/>
          </p:nvPr>
        </p:nvSpPr>
        <p:spPr>
          <a:xfrm>
            <a:off x="3999271" y="6473622"/>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rgbClr val="FF33CC"/>
                </a:solidFill>
              </a:rPr>
              <a:t>VVIT @ Dept. CSM</a:t>
            </a:r>
            <a:endParaRPr/>
          </a:p>
        </p:txBody>
      </p:sp>
      <p:sp>
        <p:nvSpPr>
          <p:cNvPr id="244" name="Google Shape;244;p13"/>
          <p:cNvSpPr txBox="1"/>
          <p:nvPr>
            <p:ph idx="12" type="sldNum"/>
          </p:nvPr>
        </p:nvSpPr>
        <p:spPr>
          <a:xfrm>
            <a:off x="11488994" y="6478792"/>
            <a:ext cx="614516" cy="34725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rgbClr val="FF33CC"/>
                </a:solidFill>
              </a:rPr>
              <a:t>‹#›</a:t>
            </a:fld>
            <a:endParaRPr>
              <a:solidFill>
                <a:srgbClr val="FF33CC"/>
              </a:solidFill>
            </a:endParaRPr>
          </a:p>
        </p:txBody>
      </p:sp>
      <p:sp>
        <p:nvSpPr>
          <p:cNvPr id="245" name="Google Shape;245;p13"/>
          <p:cNvSpPr txBox="1"/>
          <p:nvPr/>
        </p:nvSpPr>
        <p:spPr>
          <a:xfrm flipH="1">
            <a:off x="148791" y="815369"/>
            <a:ext cx="5379728"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Calibri"/>
              <a:buNone/>
            </a:pPr>
            <a:r>
              <a:rPr b="1" lang="en-IN" sz="2400">
                <a:solidFill>
                  <a:schemeClr val="dk1"/>
                </a:solidFill>
                <a:latin typeface="Calibri"/>
                <a:ea typeface="Calibri"/>
                <a:cs typeface="Calibri"/>
                <a:sym typeface="Calibri"/>
              </a:rPr>
              <a:t>Election Results &amp; Voter Insights</a:t>
            </a:r>
            <a:endParaRPr sz="18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Election results</a:t>
            </a:r>
            <a:r>
              <a:rPr lang="en-IN" sz="1800">
                <a:solidFill>
                  <a:schemeClr val="dk1"/>
                </a:solidFill>
                <a:latin typeface="Calibri"/>
                <a:ea typeface="Calibri"/>
                <a:cs typeface="Calibri"/>
                <a:sym typeface="Calibri"/>
              </a:rPr>
              <a:t> are displayed securely the day after voting.</a:t>
            </a:r>
            <a:endParaRPr/>
          </a:p>
          <a:p>
            <a:pPr indent="-114300" lvl="0" marL="0" marR="0" rtl="0" algn="l">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Provides insights and trends based on </a:t>
            </a:r>
            <a:r>
              <a:rPr b="1" lang="en-IN" sz="1800">
                <a:solidFill>
                  <a:schemeClr val="dk1"/>
                </a:solidFill>
                <a:latin typeface="Calibri"/>
                <a:ea typeface="Calibri"/>
                <a:cs typeface="Calibri"/>
                <a:sym typeface="Calibri"/>
              </a:rPr>
              <a:t>voting data</a:t>
            </a:r>
            <a:r>
              <a:rPr lang="en-IN" sz="1800">
                <a:solidFill>
                  <a:schemeClr val="dk1"/>
                </a:solidFill>
                <a:latin typeface="Calibri"/>
                <a:ea typeface="Calibri"/>
                <a:cs typeface="Calibri"/>
                <a:sym typeface="Calibri"/>
              </a:rPr>
              <a:t>.</a:t>
            </a:r>
            <a:endParaRPr/>
          </a:p>
        </p:txBody>
      </p:sp>
      <p:sp>
        <p:nvSpPr>
          <p:cNvPr id="246" name="Google Shape;246;p13"/>
          <p:cNvSpPr txBox="1"/>
          <p:nvPr/>
        </p:nvSpPr>
        <p:spPr>
          <a:xfrm>
            <a:off x="9019387" y="117032"/>
            <a:ext cx="310870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Team:BATCH7</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21BQ1A42I1,                         21BQ1A42F3,</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21BQ1A42D6,                        21BQ1A42I4</a:t>
            </a:r>
            <a:endParaRPr sz="1800">
              <a:solidFill>
                <a:schemeClr val="dk1"/>
              </a:solidFill>
              <a:latin typeface="Calibri"/>
              <a:ea typeface="Calibri"/>
              <a:cs typeface="Calibri"/>
              <a:sym typeface="Calibri"/>
            </a:endParaRPr>
          </a:p>
        </p:txBody>
      </p:sp>
      <p:pic>
        <p:nvPicPr>
          <p:cNvPr descr="A screenshot of a computer&#10;&#10;AI-generated content may be incorrect." id="247" name="Google Shape;247;p13"/>
          <p:cNvPicPr preferRelativeResize="0"/>
          <p:nvPr/>
        </p:nvPicPr>
        <p:blipFill rotWithShape="1">
          <a:blip r:embed="rId4">
            <a:alphaModFix/>
          </a:blip>
          <a:srcRect b="0" l="0" r="0" t="0"/>
          <a:stretch/>
        </p:blipFill>
        <p:spPr>
          <a:xfrm>
            <a:off x="176601" y="2107786"/>
            <a:ext cx="5500709" cy="4365836"/>
          </a:xfrm>
          <a:prstGeom prst="rect">
            <a:avLst/>
          </a:prstGeom>
          <a:noFill/>
          <a:ln>
            <a:noFill/>
          </a:ln>
        </p:spPr>
      </p:pic>
      <p:pic>
        <p:nvPicPr>
          <p:cNvPr descr="A screenshot of a computer&#10;&#10;AI-generated content may be incorrect." id="248" name="Google Shape;248;p13"/>
          <p:cNvPicPr preferRelativeResize="0"/>
          <p:nvPr/>
        </p:nvPicPr>
        <p:blipFill rotWithShape="1">
          <a:blip r:embed="rId5">
            <a:alphaModFix/>
          </a:blip>
          <a:srcRect b="0" l="0" r="0" t="0"/>
          <a:stretch/>
        </p:blipFill>
        <p:spPr>
          <a:xfrm>
            <a:off x="5727838" y="3860212"/>
            <a:ext cx="6464161" cy="2572547"/>
          </a:xfrm>
          <a:prstGeom prst="rect">
            <a:avLst/>
          </a:prstGeom>
          <a:noFill/>
          <a:ln>
            <a:noFill/>
          </a:ln>
        </p:spPr>
      </p:pic>
      <p:pic>
        <p:nvPicPr>
          <p:cNvPr descr="A screenshot of a computer&#10;&#10;AI-generated content may be incorrect." id="249" name="Google Shape;249;p13"/>
          <p:cNvPicPr preferRelativeResize="0"/>
          <p:nvPr/>
        </p:nvPicPr>
        <p:blipFill rotWithShape="1">
          <a:blip r:embed="rId6">
            <a:alphaModFix/>
          </a:blip>
          <a:srcRect b="0" l="0" r="0" t="0"/>
          <a:stretch/>
        </p:blipFill>
        <p:spPr>
          <a:xfrm>
            <a:off x="5677310" y="763364"/>
            <a:ext cx="6514689" cy="31875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4"/>
          <p:cNvSpPr/>
          <p:nvPr/>
        </p:nvSpPr>
        <p:spPr>
          <a:xfrm>
            <a:off x="-1" y="-53980"/>
            <a:ext cx="12192000" cy="837398"/>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rgbClr val="FFFF00"/>
                </a:solidFill>
                <a:latin typeface="Times New Roman"/>
                <a:ea typeface="Times New Roman"/>
                <a:cs typeface="Times New Roman"/>
                <a:sym typeface="Times New Roman"/>
              </a:rPr>
              <a:t>                           Department of CSE-AI &amp; ML (CSM)</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5" name="Google Shape;255;p14"/>
          <p:cNvSpPr/>
          <p:nvPr/>
        </p:nvSpPr>
        <p:spPr>
          <a:xfrm>
            <a:off x="0" y="6464710"/>
            <a:ext cx="12192000" cy="393289"/>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56" name="Google Shape;256;p14"/>
          <p:cNvPicPr preferRelativeResize="0"/>
          <p:nvPr/>
        </p:nvPicPr>
        <p:blipFill rotWithShape="1">
          <a:blip r:embed="rId3">
            <a:alphaModFix/>
          </a:blip>
          <a:srcRect b="0" l="0" r="0" t="0"/>
          <a:stretch/>
        </p:blipFill>
        <p:spPr>
          <a:xfrm>
            <a:off x="63911" y="-38004"/>
            <a:ext cx="3229896" cy="750273"/>
          </a:xfrm>
          <a:prstGeom prst="rect">
            <a:avLst/>
          </a:prstGeom>
          <a:noFill/>
          <a:ln>
            <a:noFill/>
          </a:ln>
        </p:spPr>
      </p:pic>
      <p:sp>
        <p:nvSpPr>
          <p:cNvPr id="257" name="Google Shape;257;p14"/>
          <p:cNvSpPr txBox="1"/>
          <p:nvPr>
            <p:ph idx="10" type="dt"/>
          </p:nvPr>
        </p:nvSpPr>
        <p:spPr>
          <a:xfrm>
            <a:off x="0" y="6460922"/>
            <a:ext cx="99797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rgbClr val="FF33CC"/>
                </a:solidFill>
              </a:rPr>
              <a:t>14-04-2025</a:t>
            </a:r>
            <a:endParaRPr>
              <a:solidFill>
                <a:srgbClr val="FF33CC"/>
              </a:solidFill>
            </a:endParaRPr>
          </a:p>
        </p:txBody>
      </p:sp>
      <p:sp>
        <p:nvSpPr>
          <p:cNvPr id="258" name="Google Shape;258;p14"/>
          <p:cNvSpPr txBox="1"/>
          <p:nvPr>
            <p:ph idx="11" type="ftr"/>
          </p:nvPr>
        </p:nvSpPr>
        <p:spPr>
          <a:xfrm>
            <a:off x="3999271" y="6473622"/>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rgbClr val="FF33CC"/>
                </a:solidFill>
              </a:rPr>
              <a:t>VVIT @ Dept. CSM</a:t>
            </a:r>
            <a:endParaRPr/>
          </a:p>
        </p:txBody>
      </p:sp>
      <p:sp>
        <p:nvSpPr>
          <p:cNvPr id="259" name="Google Shape;259;p14"/>
          <p:cNvSpPr txBox="1"/>
          <p:nvPr>
            <p:ph idx="12" type="sldNum"/>
          </p:nvPr>
        </p:nvSpPr>
        <p:spPr>
          <a:xfrm>
            <a:off x="11488994" y="6478792"/>
            <a:ext cx="614516" cy="34725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rgbClr val="FF33CC"/>
                </a:solidFill>
              </a:rPr>
              <a:t>‹#›</a:t>
            </a:fld>
            <a:endParaRPr>
              <a:solidFill>
                <a:srgbClr val="FF33CC"/>
              </a:solidFill>
            </a:endParaRPr>
          </a:p>
        </p:txBody>
      </p:sp>
      <p:sp>
        <p:nvSpPr>
          <p:cNvPr id="260" name="Google Shape;260;p14"/>
          <p:cNvSpPr txBox="1"/>
          <p:nvPr/>
        </p:nvSpPr>
        <p:spPr>
          <a:xfrm>
            <a:off x="9019387" y="117032"/>
            <a:ext cx="310870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Team:BATCH7</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21BQ1A42I1,                         21BQ1A42F3,</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21BQ1A42D6,                        21BQ1A42I4</a:t>
            </a:r>
            <a:endParaRPr sz="1800">
              <a:solidFill>
                <a:schemeClr val="dk1"/>
              </a:solidFill>
              <a:latin typeface="Calibri"/>
              <a:ea typeface="Calibri"/>
              <a:cs typeface="Calibri"/>
              <a:sym typeface="Calibri"/>
            </a:endParaRPr>
          </a:p>
        </p:txBody>
      </p:sp>
      <p:sp>
        <p:nvSpPr>
          <p:cNvPr id="261" name="Google Shape;261;p14"/>
          <p:cNvSpPr txBox="1"/>
          <p:nvPr/>
        </p:nvSpPr>
        <p:spPr>
          <a:xfrm>
            <a:off x="63911" y="728245"/>
            <a:ext cx="610235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b="1" lang="en-IN" sz="1800">
                <a:solidFill>
                  <a:schemeClr val="dk1"/>
                </a:solidFill>
                <a:latin typeface="Calibri"/>
                <a:ea typeface="Calibri"/>
                <a:cs typeface="Calibri"/>
                <a:sym typeface="Calibri"/>
              </a:rPr>
              <a:t>Future Election Prediction using Machine Learning</a:t>
            </a:r>
            <a:endParaRPr sz="18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Predicts election outcomes with </a:t>
            </a:r>
            <a:r>
              <a:rPr b="1" lang="en-IN" sz="1800">
                <a:solidFill>
                  <a:schemeClr val="dk1"/>
                </a:solidFill>
                <a:latin typeface="Calibri"/>
                <a:ea typeface="Calibri"/>
                <a:cs typeface="Calibri"/>
                <a:sym typeface="Calibri"/>
              </a:rPr>
              <a:t>Decision Tree</a:t>
            </a: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Random Forest</a:t>
            </a:r>
            <a:r>
              <a:rPr lang="en-IN" sz="1800">
                <a:solidFill>
                  <a:schemeClr val="dk1"/>
                </a:solidFill>
                <a:latin typeface="Calibri"/>
                <a:ea typeface="Calibri"/>
                <a:cs typeface="Calibri"/>
                <a:sym typeface="Calibri"/>
              </a:rPr>
              <a:t>, and </a:t>
            </a:r>
            <a:r>
              <a:rPr b="1" lang="en-IN" sz="1800">
                <a:solidFill>
                  <a:schemeClr val="dk1"/>
                </a:solidFill>
                <a:latin typeface="Calibri"/>
                <a:ea typeface="Calibri"/>
                <a:cs typeface="Calibri"/>
                <a:sym typeface="Calibri"/>
              </a:rPr>
              <a:t>Logistic Regression</a:t>
            </a:r>
            <a:r>
              <a:rPr lang="en-IN" sz="1800">
                <a:solidFill>
                  <a:schemeClr val="dk1"/>
                </a:solidFill>
                <a:latin typeface="Calibri"/>
                <a:ea typeface="Calibri"/>
                <a:cs typeface="Calibri"/>
                <a:sym typeface="Calibri"/>
              </a:rPr>
              <a:t> algorithms.</a:t>
            </a:r>
            <a:endParaRPr/>
          </a:p>
          <a:p>
            <a:pPr indent="-114300" lvl="0" marL="0" marR="0" rtl="0" algn="l">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Analyzes factors like </a:t>
            </a:r>
            <a:r>
              <a:rPr b="1" lang="en-IN" sz="1800">
                <a:solidFill>
                  <a:schemeClr val="dk1"/>
                </a:solidFill>
                <a:latin typeface="Calibri"/>
                <a:ea typeface="Calibri"/>
                <a:cs typeface="Calibri"/>
                <a:sym typeface="Calibri"/>
              </a:rPr>
              <a:t>party, gender, age</a:t>
            </a:r>
            <a:r>
              <a:rPr lang="en-IN" sz="1800">
                <a:solidFill>
                  <a:schemeClr val="dk1"/>
                </a:solidFill>
                <a:latin typeface="Calibri"/>
                <a:ea typeface="Calibri"/>
                <a:cs typeface="Calibri"/>
                <a:sym typeface="Calibri"/>
              </a:rPr>
              <a:t>, and more for accurate predictions.</a:t>
            </a:r>
            <a:endParaRPr/>
          </a:p>
        </p:txBody>
      </p:sp>
      <p:pic>
        <p:nvPicPr>
          <p:cNvPr descr="A blue and purple pie chart&#10;&#10;AI-generated content may be incorrect." id="262" name="Google Shape;262;p14"/>
          <p:cNvPicPr preferRelativeResize="0"/>
          <p:nvPr/>
        </p:nvPicPr>
        <p:blipFill rotWithShape="1">
          <a:blip r:embed="rId4">
            <a:alphaModFix/>
          </a:blip>
          <a:srcRect b="0" l="0" r="0" t="0"/>
          <a:stretch/>
        </p:blipFill>
        <p:spPr>
          <a:xfrm>
            <a:off x="-1" y="2221502"/>
            <a:ext cx="6056672" cy="4207467"/>
          </a:xfrm>
          <a:prstGeom prst="rect">
            <a:avLst/>
          </a:prstGeom>
          <a:noFill/>
          <a:ln>
            <a:noFill/>
          </a:ln>
        </p:spPr>
      </p:pic>
      <p:pic>
        <p:nvPicPr>
          <p:cNvPr descr="A screenshot of a computer&#10;&#10;AI-generated content may be incorrect." id="263" name="Google Shape;263;p14"/>
          <p:cNvPicPr preferRelativeResize="0"/>
          <p:nvPr/>
        </p:nvPicPr>
        <p:blipFill rotWithShape="1">
          <a:blip r:embed="rId5">
            <a:alphaModFix/>
          </a:blip>
          <a:srcRect b="0" l="0" r="0" t="0"/>
          <a:stretch/>
        </p:blipFill>
        <p:spPr>
          <a:xfrm>
            <a:off x="6056671" y="775791"/>
            <a:ext cx="6199240" cy="569783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5"/>
          <p:cNvSpPr/>
          <p:nvPr/>
        </p:nvSpPr>
        <p:spPr>
          <a:xfrm>
            <a:off x="-1" y="-53980"/>
            <a:ext cx="12192000" cy="837398"/>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IN" sz="1800">
                <a:solidFill>
                  <a:srgbClr val="FFFF00"/>
                </a:solidFill>
                <a:latin typeface="Times New Roman"/>
                <a:ea typeface="Times New Roman"/>
                <a:cs typeface="Times New Roman"/>
                <a:sym typeface="Times New Roman"/>
              </a:rPr>
              <a:t>                           Department of CSE-AI &amp; ML (CSM)</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 name="Google Shape;269;p15"/>
          <p:cNvSpPr/>
          <p:nvPr/>
        </p:nvSpPr>
        <p:spPr>
          <a:xfrm>
            <a:off x="0" y="6464710"/>
            <a:ext cx="12192000" cy="393289"/>
          </a:xfrm>
          <a:prstGeom prst="rect">
            <a:avLst/>
          </a:prstGeom>
          <a:solidFill>
            <a:schemeClr val="accent2"/>
          </a:solidFill>
          <a:ln cap="flat" cmpd="sng" w="12700">
            <a:solidFill>
              <a:srgbClr val="64341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70" name="Google Shape;270;p15"/>
          <p:cNvPicPr preferRelativeResize="0"/>
          <p:nvPr/>
        </p:nvPicPr>
        <p:blipFill rotWithShape="1">
          <a:blip r:embed="rId3">
            <a:alphaModFix/>
          </a:blip>
          <a:srcRect b="0" l="0" r="0" t="0"/>
          <a:stretch/>
        </p:blipFill>
        <p:spPr>
          <a:xfrm>
            <a:off x="63911" y="-38004"/>
            <a:ext cx="3229896" cy="750273"/>
          </a:xfrm>
          <a:prstGeom prst="rect">
            <a:avLst/>
          </a:prstGeom>
          <a:noFill/>
          <a:ln>
            <a:noFill/>
          </a:ln>
        </p:spPr>
      </p:pic>
      <p:sp>
        <p:nvSpPr>
          <p:cNvPr id="271" name="Google Shape;271;p15"/>
          <p:cNvSpPr txBox="1"/>
          <p:nvPr>
            <p:ph idx="10" type="dt"/>
          </p:nvPr>
        </p:nvSpPr>
        <p:spPr>
          <a:xfrm>
            <a:off x="0" y="6460922"/>
            <a:ext cx="99797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rgbClr val="FF33CC"/>
                </a:solidFill>
              </a:rPr>
              <a:t>14-04-2025</a:t>
            </a:r>
            <a:endParaRPr>
              <a:solidFill>
                <a:srgbClr val="FF33CC"/>
              </a:solidFill>
            </a:endParaRPr>
          </a:p>
        </p:txBody>
      </p:sp>
      <p:sp>
        <p:nvSpPr>
          <p:cNvPr id="272" name="Google Shape;272;p15"/>
          <p:cNvSpPr txBox="1"/>
          <p:nvPr>
            <p:ph idx="11" type="ftr"/>
          </p:nvPr>
        </p:nvSpPr>
        <p:spPr>
          <a:xfrm>
            <a:off x="3999271" y="6473622"/>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rgbClr val="FF33CC"/>
                </a:solidFill>
              </a:rPr>
              <a:t>VVIT @ Dept. CSM</a:t>
            </a:r>
            <a:endParaRPr/>
          </a:p>
        </p:txBody>
      </p:sp>
      <p:sp>
        <p:nvSpPr>
          <p:cNvPr id="273" name="Google Shape;273;p15"/>
          <p:cNvSpPr txBox="1"/>
          <p:nvPr>
            <p:ph idx="12" type="sldNum"/>
          </p:nvPr>
        </p:nvSpPr>
        <p:spPr>
          <a:xfrm>
            <a:off x="11488994" y="6478792"/>
            <a:ext cx="614516" cy="347256"/>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rgbClr val="FF33CC"/>
                </a:solidFill>
              </a:rPr>
              <a:t>‹#›</a:t>
            </a:fld>
            <a:endParaRPr>
              <a:solidFill>
                <a:srgbClr val="FF33CC"/>
              </a:solidFill>
            </a:endParaRPr>
          </a:p>
        </p:txBody>
      </p:sp>
      <p:sp>
        <p:nvSpPr>
          <p:cNvPr id="274" name="Google Shape;274;p15"/>
          <p:cNvSpPr txBox="1"/>
          <p:nvPr/>
        </p:nvSpPr>
        <p:spPr>
          <a:xfrm>
            <a:off x="9019387" y="117032"/>
            <a:ext cx="310870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Team:BATCH7</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21BQ1A42I1,                         21BQ1A42F3,</a:t>
            </a:r>
            <a:endParaRPr/>
          </a:p>
          <a:p>
            <a:pPr indent="0" lvl="0" marL="0" marR="0" rtl="0" algn="l">
              <a:spcBef>
                <a:spcPts val="0"/>
              </a:spcBef>
              <a:spcAft>
                <a:spcPts val="0"/>
              </a:spcAft>
              <a:buNone/>
            </a:pPr>
            <a:r>
              <a:rPr lang="en-IN" sz="1200">
                <a:solidFill>
                  <a:srgbClr val="FFFF00"/>
                </a:solidFill>
                <a:latin typeface="Times New Roman"/>
                <a:ea typeface="Times New Roman"/>
                <a:cs typeface="Times New Roman"/>
                <a:sym typeface="Times New Roman"/>
              </a:rPr>
              <a:t>21BQ1A42D6,                        21BQ1A42I4</a:t>
            </a:r>
            <a:endParaRPr sz="1800">
              <a:solidFill>
                <a:schemeClr val="dk1"/>
              </a:solidFill>
              <a:latin typeface="Calibri"/>
              <a:ea typeface="Calibri"/>
              <a:cs typeface="Calibri"/>
              <a:sym typeface="Calibri"/>
            </a:endParaRPr>
          </a:p>
        </p:txBody>
      </p:sp>
      <p:pic>
        <p:nvPicPr>
          <p:cNvPr descr="A red and white rectangle with white lines&#10;&#10;AI-generated content may be incorrect." id="275" name="Google Shape;275;p15"/>
          <p:cNvPicPr preferRelativeResize="0"/>
          <p:nvPr/>
        </p:nvPicPr>
        <p:blipFill rotWithShape="1">
          <a:blip r:embed="rId4">
            <a:alphaModFix/>
          </a:blip>
          <a:srcRect b="0" l="0" r="0" t="0"/>
          <a:stretch/>
        </p:blipFill>
        <p:spPr>
          <a:xfrm>
            <a:off x="784830" y="1407613"/>
            <a:ext cx="4053048" cy="4078787"/>
          </a:xfrm>
          <a:prstGeom prst="rect">
            <a:avLst/>
          </a:prstGeom>
          <a:noFill/>
          <a:ln>
            <a:noFill/>
          </a:ln>
        </p:spPr>
      </p:pic>
      <p:pic>
        <p:nvPicPr>
          <p:cNvPr descr="A graph with yellow dots&#10;&#10;AI-generated content may be incorrect." id="276" name="Google Shape;276;p15"/>
          <p:cNvPicPr preferRelativeResize="0"/>
          <p:nvPr/>
        </p:nvPicPr>
        <p:blipFill rotWithShape="1">
          <a:blip r:embed="rId5">
            <a:alphaModFix/>
          </a:blip>
          <a:srcRect b="0" l="0" r="0" t="0"/>
          <a:stretch/>
        </p:blipFill>
        <p:spPr>
          <a:xfrm>
            <a:off x="5700252" y="1407613"/>
            <a:ext cx="6096000" cy="376128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2024-02-20T07:09:40Z</dcterms:created>
  <dc:creator>Sai srija Appala</dc:creator>
</cp:coreProperties>
</file>